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5124113" cy="10688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108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5124176" cy="1005840"/>
          </a:xfrm>
          <a:prstGeom prst="rect">
            <a:avLst/>
          </a:prstGeom>
          <a:solidFill>
            <a:srgbClr val="464646"/>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277856"/>
            <a:ext cx="15124176" cy="411480"/>
          </a:xfrm>
          <a:prstGeom prst="rect">
            <a:avLst/>
          </a:prstGeom>
          <a:solidFill>
            <a:srgbClr val="464646"/>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9784080" cy="457200"/>
          </a:xfrm>
          <a:prstGeom prst="rect">
            <a:avLst/>
          </a:prstGeom>
          <a:noFill/>
        </p:spPr>
        <p:txBody>
          <a:bodyPr wrap="none">
            <a:spAutoFit/>
          </a:bodyPr>
          <a:lstStyle/>
          <a:p>
            <a:r>
              <a:rPr sz="2800" b="1">
                <a:solidFill>
                  <a:srgbClr val="FFFFFF"/>
                </a:solidFill>
              </a:rPr>
              <a:t>Project DAWG – Hundeartenerkennung mit Transfer Learning</a:t>
            </a:r>
          </a:p>
        </p:txBody>
      </p:sp>
      <p:sp>
        <p:nvSpPr>
          <p:cNvPr id="5" name="TextBox 4"/>
          <p:cNvSpPr txBox="1"/>
          <p:nvPr/>
        </p:nvSpPr>
        <p:spPr>
          <a:xfrm>
            <a:off x="384048" y="576072"/>
            <a:ext cx="3604064" cy="307777"/>
          </a:xfrm>
          <a:prstGeom prst="rect">
            <a:avLst/>
          </a:prstGeom>
          <a:noFill/>
        </p:spPr>
        <p:txBody>
          <a:bodyPr wrap="none">
            <a:spAutoFit/>
          </a:bodyPr>
          <a:lstStyle/>
          <a:p>
            <a:r>
              <a:rPr sz="1400" dirty="0">
                <a:solidFill>
                  <a:srgbClr val="FFFFFF"/>
                </a:solidFill>
              </a:rPr>
              <a:t>Tobias Daiger · </a:t>
            </a:r>
            <a:r>
              <a:rPr sz="1400" dirty="0" err="1">
                <a:solidFill>
                  <a:srgbClr val="FFFFFF"/>
                </a:solidFill>
              </a:rPr>
              <a:t>Maschinelles</a:t>
            </a:r>
            <a:r>
              <a:rPr sz="1400" dirty="0">
                <a:solidFill>
                  <a:srgbClr val="FFFFFF"/>
                </a:solidFill>
              </a:rPr>
              <a:t> </a:t>
            </a:r>
            <a:r>
              <a:rPr sz="1400" dirty="0" err="1">
                <a:solidFill>
                  <a:srgbClr val="FFFFFF"/>
                </a:solidFill>
              </a:rPr>
              <a:t>Sehen</a:t>
            </a:r>
            <a:r>
              <a:rPr sz="1400" dirty="0">
                <a:solidFill>
                  <a:srgbClr val="FFFFFF"/>
                </a:solidFill>
              </a:rPr>
              <a:t> · </a:t>
            </a:r>
            <a:r>
              <a:rPr sz="1400" dirty="0" err="1">
                <a:solidFill>
                  <a:srgbClr val="FFFFFF"/>
                </a:solidFill>
              </a:rPr>
              <a:t>SoSe</a:t>
            </a:r>
            <a:r>
              <a:rPr sz="1400" dirty="0">
                <a:solidFill>
                  <a:srgbClr val="FFFFFF"/>
                </a:solidFill>
              </a:rPr>
              <a:t> 202</a:t>
            </a:r>
            <a:r>
              <a:rPr lang="de-DE" sz="1400" dirty="0">
                <a:solidFill>
                  <a:srgbClr val="FFFFFF"/>
                </a:solidFill>
              </a:rPr>
              <a:t>6</a:t>
            </a:r>
            <a:endParaRPr sz="1400" dirty="0">
              <a:solidFill>
                <a:srgbClr val="FFFFFF"/>
              </a:solidFill>
            </a:endParaRPr>
          </a:p>
        </p:txBody>
      </p:sp>
      <p:sp>
        <p:nvSpPr>
          <p:cNvPr id="6" name="Rectangle 5"/>
          <p:cNvSpPr/>
          <p:nvPr/>
        </p:nvSpPr>
        <p:spPr>
          <a:xfrm>
            <a:off x="320040" y="1234440"/>
            <a:ext cx="352044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3192" y="1289304"/>
            <a:ext cx="337413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Problem / Zielsetzung</a:t>
            </a:r>
          </a:p>
        </p:txBody>
      </p:sp>
      <p:sp>
        <p:nvSpPr>
          <p:cNvPr id="8" name="TextBox 7"/>
          <p:cNvSpPr txBox="1"/>
          <p:nvPr/>
        </p:nvSpPr>
        <p:spPr>
          <a:xfrm>
            <a:off x="429768" y="1764792"/>
            <a:ext cx="3300984" cy="2103120"/>
          </a:xfrm>
          <a:prstGeom prst="rect">
            <a:avLst/>
          </a:prstGeom>
          <a:noFill/>
        </p:spPr>
        <p:txBody>
          <a:bodyPr wrap="square">
            <a:normAutofit/>
          </a:bodyPr>
          <a:lstStyle/>
          <a:p>
            <a:pPr>
              <a:defRPr sz="1300">
                <a:solidFill>
                  <a:srgbClr val="191919"/>
                </a:solidFill>
              </a:defRPr>
            </a:pPr>
            <a:r>
              <a:t>• Automatische Erkennung von Hundearten in Bildern</a:t>
            </a:r>
          </a:p>
          <a:p>
            <a:pPr>
              <a:defRPr sz="1300">
                <a:solidFill>
                  <a:srgbClr val="191919"/>
                </a:solidFill>
              </a:defRPr>
            </a:pPr>
            <a:r>
              <a:t>• Zusätzliche Erkennung des eigenen Haustiers "Garo" als eigene Klasse</a:t>
            </a:r>
          </a:p>
          <a:p>
            <a:pPr>
              <a:defRPr sz="1300">
                <a:solidFill>
                  <a:srgbClr val="191919"/>
                </a:solidFill>
              </a:defRPr>
            </a:pPr>
            <a:r>
              <a:t>• Vergleich zwischen vielen ähnlichen Rassen</a:t>
            </a:r>
          </a:p>
          <a:p>
            <a:pPr>
              <a:defRPr sz="1300">
                <a:solidFill>
                  <a:srgbClr val="191919"/>
                </a:solidFill>
              </a:defRPr>
            </a:pPr>
            <a:r>
              <a:t>• Ziel: robuste Multiclass-Klassifikation und nachvollziehbare Auswertung</a:t>
            </a:r>
          </a:p>
        </p:txBody>
      </p:sp>
      <p:sp>
        <p:nvSpPr>
          <p:cNvPr id="9" name="Rectangle 8"/>
          <p:cNvSpPr/>
          <p:nvPr/>
        </p:nvSpPr>
        <p:spPr>
          <a:xfrm>
            <a:off x="3977639" y="1234440"/>
            <a:ext cx="365760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50791" y="1289304"/>
            <a:ext cx="351129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Related Work / Datensatz</a:t>
            </a:r>
          </a:p>
        </p:txBody>
      </p:sp>
      <p:sp>
        <p:nvSpPr>
          <p:cNvPr id="11" name="TextBox 10"/>
          <p:cNvSpPr txBox="1"/>
          <p:nvPr/>
        </p:nvSpPr>
        <p:spPr>
          <a:xfrm>
            <a:off x="4087367" y="1764792"/>
            <a:ext cx="3438144" cy="2103120"/>
          </a:xfrm>
          <a:prstGeom prst="rect">
            <a:avLst/>
          </a:prstGeom>
          <a:noFill/>
        </p:spPr>
        <p:txBody>
          <a:bodyPr wrap="square">
            <a:normAutofit/>
          </a:bodyPr>
          <a:lstStyle/>
          <a:p>
            <a:pPr>
              <a:defRPr sz="1300">
                <a:solidFill>
                  <a:srgbClr val="191919"/>
                </a:solidFill>
              </a:defRPr>
            </a:pPr>
            <a:r>
              <a:t>• Stanford Dogs Dataset über Kaggle als Basis</a:t>
            </a:r>
          </a:p>
          <a:p>
            <a:pPr>
              <a:defRPr sz="1300">
                <a:solidFill>
                  <a:srgbClr val="191919"/>
                </a:solidFill>
              </a:defRPr>
            </a:pPr>
            <a:r>
              <a:t>• 120 Hundearten mit jeweils ca. 170 Trainingsbildern</a:t>
            </a:r>
          </a:p>
          <a:p>
            <a:pPr>
              <a:defRPr sz="1300">
                <a:solidFill>
                  <a:srgbClr val="191919"/>
                </a:solidFill>
              </a:defRPr>
            </a:pPr>
            <a:r>
              <a:t>• Insgesamt über 20.000 Trainingsbilder</a:t>
            </a:r>
          </a:p>
          <a:p>
            <a:pPr>
              <a:defRPr sz="1300">
                <a:solidFill>
                  <a:srgbClr val="191919"/>
                </a:solidFill>
              </a:defRPr>
            </a:pPr>
            <a:r>
              <a:t>• Eigener Datensatz von "Garo" mit 91 Trainingsbildern</a:t>
            </a:r>
          </a:p>
          <a:p>
            <a:pPr>
              <a:defRPr sz="1300">
                <a:solidFill>
                  <a:srgbClr val="191919"/>
                </a:solidFill>
              </a:defRPr>
            </a:pPr>
            <a:r>
              <a:t>• Transfer Learning mit ResNet18 statt CNN-Training von Grund auf</a:t>
            </a:r>
          </a:p>
        </p:txBody>
      </p:sp>
      <p:sp>
        <p:nvSpPr>
          <p:cNvPr id="12" name="Rectangle 11"/>
          <p:cNvSpPr/>
          <p:nvPr/>
        </p:nvSpPr>
        <p:spPr>
          <a:xfrm>
            <a:off x="7772400" y="1234440"/>
            <a:ext cx="342900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45552" y="1289304"/>
            <a:ext cx="328269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Projektidee</a:t>
            </a:r>
          </a:p>
        </p:txBody>
      </p:sp>
      <p:sp>
        <p:nvSpPr>
          <p:cNvPr id="14" name="TextBox 13"/>
          <p:cNvSpPr txBox="1"/>
          <p:nvPr/>
        </p:nvSpPr>
        <p:spPr>
          <a:xfrm>
            <a:off x="7882128" y="1764792"/>
            <a:ext cx="3209544" cy="2103120"/>
          </a:xfrm>
          <a:prstGeom prst="rect">
            <a:avLst/>
          </a:prstGeom>
          <a:noFill/>
        </p:spPr>
        <p:txBody>
          <a:bodyPr wrap="square">
            <a:normAutofit/>
          </a:bodyPr>
          <a:lstStyle/>
          <a:p>
            <a:pPr>
              <a:defRPr sz="1300">
                <a:solidFill>
                  <a:srgbClr val="191919"/>
                </a:solidFill>
              </a:defRPr>
            </a:pPr>
            <a:r>
              <a:t>Die Projektidee ist, ein vortrainiertes CNN so anzupassen, dass es viele Hunderassen und zusätzlich das eigene Haustier erkennt. Dadurch lässt sich zeigen, wie gut Transfer Learning auch für eine neue, kleine Zusatzklasse funktioniert.</a:t>
            </a:r>
          </a:p>
        </p:txBody>
      </p:sp>
      <p:sp>
        <p:nvSpPr>
          <p:cNvPr id="15" name="Rectangle 14"/>
          <p:cNvSpPr/>
          <p:nvPr/>
        </p:nvSpPr>
        <p:spPr>
          <a:xfrm>
            <a:off x="11384280" y="1234440"/>
            <a:ext cx="3429000" cy="2743200"/>
          </a:xfrm>
          <a:prstGeom prst="rect">
            <a:avLst/>
          </a:prstGeom>
          <a:solidFill>
            <a:srgbClr val="F3F3F3"/>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57432" y="1289304"/>
            <a:ext cx="328269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Platz für Bild</a:t>
            </a:r>
          </a:p>
        </p:txBody>
      </p:sp>
      <p:sp>
        <p:nvSpPr>
          <p:cNvPr id="17" name="TextBox 16"/>
          <p:cNvSpPr txBox="1"/>
          <p:nvPr/>
        </p:nvSpPr>
        <p:spPr>
          <a:xfrm>
            <a:off x="11494008" y="1764792"/>
            <a:ext cx="3209544" cy="2103120"/>
          </a:xfrm>
          <a:prstGeom prst="rect">
            <a:avLst/>
          </a:prstGeom>
          <a:noFill/>
        </p:spPr>
        <p:txBody>
          <a:bodyPr wrap="square">
            <a:normAutofit/>
          </a:bodyPr>
          <a:lstStyle/>
          <a:p>
            <a:pPr>
              <a:defRPr sz="1300">
                <a:solidFill>
                  <a:srgbClr val="191919"/>
                </a:solidFill>
              </a:defRPr>
            </a:pPr>
            <a:r>
              <a:t>Hier kann z. B. ein Beispielbild von Garo oder eine Bildübersicht des Datensatzes eingefügt werden.</a:t>
            </a:r>
          </a:p>
        </p:txBody>
      </p:sp>
      <p:sp>
        <p:nvSpPr>
          <p:cNvPr id="18" name="Rectangle 17"/>
          <p:cNvSpPr/>
          <p:nvPr/>
        </p:nvSpPr>
        <p:spPr>
          <a:xfrm>
            <a:off x="320040" y="4206240"/>
            <a:ext cx="493776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3192" y="4261104"/>
            <a:ext cx="4754880" cy="400110"/>
          </a:xfrm>
          <a:prstGeom prst="rect">
            <a:avLst/>
          </a:prstGeom>
          <a:solidFill>
            <a:srgbClr val="464646"/>
          </a:solidFill>
          <a:ln>
            <a:solidFill>
              <a:srgbClr val="464646"/>
            </a:solidFill>
          </a:ln>
        </p:spPr>
        <p:txBody>
          <a:bodyPr wrap="square">
            <a:spAutoFit/>
          </a:bodyPr>
          <a:lstStyle/>
          <a:p>
            <a:pPr algn="l"/>
            <a:r>
              <a:rPr sz="2000" b="1">
                <a:solidFill>
                  <a:srgbClr val="FFFFFF"/>
                </a:solidFill>
              </a:rPr>
              <a:t>Vorgehen / Methode</a:t>
            </a:r>
          </a:p>
        </p:txBody>
      </p:sp>
      <p:sp>
        <p:nvSpPr>
          <p:cNvPr id="20" name="TextBox 19"/>
          <p:cNvSpPr txBox="1"/>
          <p:nvPr/>
        </p:nvSpPr>
        <p:spPr>
          <a:xfrm>
            <a:off x="429768" y="4736592"/>
            <a:ext cx="4489704" cy="2185416"/>
          </a:xfrm>
          <a:prstGeom prst="rect">
            <a:avLst/>
          </a:prstGeom>
          <a:noFill/>
        </p:spPr>
        <p:txBody>
          <a:bodyPr wrap="square">
            <a:normAutofit/>
          </a:bodyPr>
          <a:lstStyle/>
          <a:p>
            <a:pPr>
              <a:defRPr sz="1300">
                <a:solidFill>
                  <a:srgbClr val="191919"/>
                </a:solidFill>
              </a:defRPr>
            </a:pPr>
            <a:r>
              <a:rPr dirty="0"/>
              <a:t>• </a:t>
            </a:r>
            <a:r>
              <a:rPr dirty="0" err="1"/>
              <a:t>Vortrainiertes</a:t>
            </a:r>
            <a:r>
              <a:rPr dirty="0"/>
              <a:t> ResNet18 </a:t>
            </a:r>
            <a:r>
              <a:rPr dirty="0" err="1"/>
              <a:t>geladen</a:t>
            </a:r>
            <a:endParaRPr dirty="0"/>
          </a:p>
          <a:p>
            <a:pPr>
              <a:defRPr sz="1300">
                <a:solidFill>
                  <a:srgbClr val="191919"/>
                </a:solidFill>
              </a:defRPr>
            </a:pPr>
            <a:r>
              <a:rPr dirty="0"/>
              <a:t>• Neuer </a:t>
            </a:r>
            <a:r>
              <a:rPr dirty="0" err="1"/>
              <a:t>Klassifikationskopf</a:t>
            </a:r>
            <a:r>
              <a:rPr dirty="0"/>
              <a:t> für 121 Klassen </a:t>
            </a:r>
            <a:r>
              <a:rPr dirty="0" err="1"/>
              <a:t>erzeugt</a:t>
            </a:r>
            <a:endParaRPr dirty="0"/>
          </a:p>
          <a:p>
            <a:pPr>
              <a:defRPr sz="1300">
                <a:solidFill>
                  <a:srgbClr val="191919"/>
                </a:solidFill>
              </a:defRPr>
            </a:pPr>
            <a:r>
              <a:rPr dirty="0"/>
              <a:t>• Phase 1: </a:t>
            </a:r>
            <a:r>
              <a:rPr dirty="0" err="1"/>
              <a:t>nur</a:t>
            </a:r>
            <a:r>
              <a:rPr dirty="0"/>
              <a:t> </a:t>
            </a:r>
            <a:r>
              <a:rPr dirty="0" err="1"/>
              <a:t>Klassifikationskopf</a:t>
            </a:r>
            <a:r>
              <a:rPr dirty="0"/>
              <a:t> </a:t>
            </a:r>
            <a:r>
              <a:rPr dirty="0" err="1"/>
              <a:t>trainiert</a:t>
            </a:r>
            <a:endParaRPr dirty="0"/>
          </a:p>
          <a:p>
            <a:pPr>
              <a:defRPr sz="1300">
                <a:solidFill>
                  <a:srgbClr val="191919"/>
                </a:solidFill>
              </a:defRPr>
            </a:pPr>
            <a:r>
              <a:rPr dirty="0"/>
              <a:t>• Phase 2: </a:t>
            </a:r>
            <a:r>
              <a:rPr dirty="0" err="1"/>
              <a:t>gesamtes</a:t>
            </a:r>
            <a:r>
              <a:rPr dirty="0"/>
              <a:t> Netz mit </a:t>
            </a:r>
            <a:r>
              <a:rPr dirty="0" err="1"/>
              <a:t>kleiner</a:t>
            </a:r>
            <a:r>
              <a:rPr dirty="0"/>
              <a:t> </a:t>
            </a:r>
            <a:r>
              <a:rPr dirty="0" err="1"/>
              <a:t>Lernrate</a:t>
            </a:r>
            <a:r>
              <a:rPr dirty="0"/>
              <a:t> </a:t>
            </a:r>
            <a:r>
              <a:rPr dirty="0" err="1"/>
              <a:t>feinjustiert</a:t>
            </a:r>
            <a:endParaRPr dirty="0"/>
          </a:p>
          <a:p>
            <a:pPr>
              <a:defRPr sz="1300">
                <a:solidFill>
                  <a:srgbClr val="191919"/>
                </a:solidFill>
              </a:defRPr>
            </a:pPr>
            <a:r>
              <a:rPr dirty="0"/>
              <a:t>• </a:t>
            </a:r>
            <a:r>
              <a:rPr dirty="0" err="1"/>
              <a:t>Bildvorverarbeitung</a:t>
            </a:r>
            <a:r>
              <a:rPr dirty="0"/>
              <a:t>: Resize, </a:t>
            </a:r>
            <a:r>
              <a:rPr dirty="0" err="1"/>
              <a:t>Normalisierung</a:t>
            </a:r>
            <a:r>
              <a:rPr dirty="0"/>
              <a:t>, Augmentation</a:t>
            </a:r>
          </a:p>
          <a:p>
            <a:pPr>
              <a:defRPr sz="1300">
                <a:solidFill>
                  <a:srgbClr val="191919"/>
                </a:solidFill>
              </a:defRPr>
            </a:pPr>
            <a:r>
              <a:rPr dirty="0"/>
              <a:t>• Testen auf </a:t>
            </a:r>
            <a:r>
              <a:rPr dirty="0" err="1"/>
              <a:t>ausgewählten</a:t>
            </a:r>
            <a:r>
              <a:rPr dirty="0"/>
              <a:t> </a:t>
            </a:r>
            <a:r>
              <a:rPr dirty="0" err="1"/>
              <a:t>Hunderassen</a:t>
            </a:r>
            <a:r>
              <a:rPr dirty="0"/>
              <a:t> + Garo</a:t>
            </a:r>
          </a:p>
          <a:p>
            <a:pPr>
              <a:defRPr sz="1300">
                <a:solidFill>
                  <a:srgbClr val="191919"/>
                </a:solidFill>
              </a:defRPr>
            </a:pPr>
            <a:endParaRPr dirty="0"/>
          </a:p>
          <a:p>
            <a:pPr>
              <a:defRPr sz="1300">
                <a:solidFill>
                  <a:srgbClr val="191919"/>
                </a:solidFill>
              </a:defRPr>
            </a:pPr>
            <a:r>
              <a:rPr dirty="0"/>
              <a:t>Pipeline:</a:t>
            </a:r>
          </a:p>
          <a:p>
            <a:pPr>
              <a:defRPr sz="1300">
                <a:solidFill>
                  <a:srgbClr val="191919"/>
                </a:solidFill>
              </a:defRPr>
            </a:pPr>
            <a:r>
              <a:rPr dirty="0" err="1"/>
              <a:t>Datensatz</a:t>
            </a:r>
            <a:r>
              <a:rPr dirty="0"/>
              <a:t> → </a:t>
            </a:r>
            <a:r>
              <a:rPr dirty="0" err="1"/>
              <a:t>Dataloader</a:t>
            </a:r>
            <a:r>
              <a:rPr dirty="0"/>
              <a:t> → ResNet18 → Training Head → Fine-Tuning → Test → </a:t>
            </a:r>
            <a:r>
              <a:rPr dirty="0" err="1"/>
              <a:t>Metriken</a:t>
            </a:r>
            <a:r>
              <a:rPr dirty="0"/>
              <a:t> / Confusion Matrix</a:t>
            </a:r>
          </a:p>
        </p:txBody>
      </p:sp>
      <p:sp>
        <p:nvSpPr>
          <p:cNvPr id="23" name="Rectangle 22"/>
          <p:cNvSpPr/>
          <p:nvPr/>
        </p:nvSpPr>
        <p:spPr>
          <a:xfrm>
            <a:off x="320040" y="7104888"/>
            <a:ext cx="4937760" cy="2862072"/>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93192" y="7159752"/>
            <a:ext cx="479145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Wichtige Punkte</a:t>
            </a:r>
          </a:p>
        </p:txBody>
      </p:sp>
      <p:sp>
        <p:nvSpPr>
          <p:cNvPr id="25" name="TextBox 24"/>
          <p:cNvSpPr txBox="1"/>
          <p:nvPr/>
        </p:nvSpPr>
        <p:spPr>
          <a:xfrm>
            <a:off x="429768" y="7635240"/>
            <a:ext cx="4718304" cy="2331720"/>
          </a:xfrm>
          <a:prstGeom prst="rect">
            <a:avLst/>
          </a:prstGeom>
          <a:noFill/>
        </p:spPr>
        <p:txBody>
          <a:bodyPr wrap="square">
            <a:normAutofit/>
          </a:bodyPr>
          <a:lstStyle/>
          <a:p>
            <a:pPr>
              <a:defRPr sz="1300">
                <a:solidFill>
                  <a:srgbClr val="191919"/>
                </a:solidFill>
              </a:defRPr>
            </a:pPr>
            <a:r>
              <a:rPr dirty="0"/>
              <a:t>• Standard-Transfer-Learning-</a:t>
            </a:r>
            <a:r>
              <a:rPr dirty="0" err="1"/>
              <a:t>Prozedur</a:t>
            </a:r>
            <a:r>
              <a:rPr dirty="0"/>
              <a:t>: </a:t>
            </a:r>
            <a:r>
              <a:rPr dirty="0" err="1"/>
              <a:t>zuerst</a:t>
            </a:r>
            <a:r>
              <a:rPr dirty="0"/>
              <a:t> Kopf </a:t>
            </a:r>
            <a:r>
              <a:rPr dirty="0" err="1"/>
              <a:t>trainieren</a:t>
            </a:r>
            <a:r>
              <a:rPr dirty="0"/>
              <a:t>, </a:t>
            </a:r>
            <a:r>
              <a:rPr dirty="0" err="1"/>
              <a:t>dann</a:t>
            </a:r>
            <a:r>
              <a:rPr dirty="0"/>
              <a:t> Fine-Tuning</a:t>
            </a:r>
          </a:p>
          <a:p>
            <a:pPr>
              <a:defRPr sz="1300">
                <a:solidFill>
                  <a:srgbClr val="191919"/>
                </a:solidFill>
              </a:defRPr>
            </a:pPr>
            <a:r>
              <a:rPr dirty="0"/>
              <a:t>• Backbone </a:t>
            </a:r>
            <a:r>
              <a:rPr dirty="0" err="1"/>
              <a:t>bleibt</a:t>
            </a:r>
            <a:r>
              <a:rPr dirty="0"/>
              <a:t> </a:t>
            </a:r>
            <a:r>
              <a:rPr dirty="0" err="1"/>
              <a:t>anfangs</a:t>
            </a:r>
            <a:r>
              <a:rPr dirty="0"/>
              <a:t> </a:t>
            </a:r>
            <a:r>
              <a:rPr dirty="0" err="1"/>
              <a:t>eingefroren</a:t>
            </a:r>
            <a:endParaRPr dirty="0"/>
          </a:p>
          <a:p>
            <a:pPr>
              <a:defRPr sz="1300">
                <a:solidFill>
                  <a:srgbClr val="191919"/>
                </a:solidFill>
              </a:defRPr>
            </a:pPr>
            <a:r>
              <a:rPr dirty="0"/>
              <a:t>• </a:t>
            </a:r>
            <a:r>
              <a:rPr dirty="0" err="1"/>
              <a:t>Dadurch</a:t>
            </a:r>
            <a:r>
              <a:rPr dirty="0"/>
              <a:t> </a:t>
            </a:r>
            <a:r>
              <a:rPr dirty="0" err="1"/>
              <a:t>werden</a:t>
            </a:r>
            <a:r>
              <a:rPr dirty="0"/>
              <a:t> </a:t>
            </a:r>
            <a:r>
              <a:rPr dirty="0" err="1"/>
              <a:t>neue</a:t>
            </a:r>
            <a:r>
              <a:rPr dirty="0"/>
              <a:t> Klassen </a:t>
            </a:r>
            <a:r>
              <a:rPr dirty="0" err="1"/>
              <a:t>stabil</a:t>
            </a:r>
            <a:r>
              <a:rPr dirty="0"/>
              <a:t> </a:t>
            </a:r>
            <a:r>
              <a:rPr dirty="0" err="1"/>
              <a:t>gelernt</a:t>
            </a:r>
            <a:endParaRPr dirty="0"/>
          </a:p>
          <a:p>
            <a:pPr>
              <a:defRPr sz="1300">
                <a:solidFill>
                  <a:srgbClr val="191919"/>
                </a:solidFill>
              </a:defRPr>
            </a:pPr>
            <a:r>
              <a:rPr dirty="0"/>
              <a:t>• </a:t>
            </a:r>
            <a:r>
              <a:rPr dirty="0" err="1"/>
              <a:t>Später</a:t>
            </a:r>
            <a:r>
              <a:rPr dirty="0"/>
              <a:t> </a:t>
            </a:r>
            <a:r>
              <a:rPr dirty="0" err="1"/>
              <a:t>Anpassung</a:t>
            </a:r>
            <a:r>
              <a:rPr dirty="0"/>
              <a:t> </a:t>
            </a:r>
            <a:r>
              <a:rPr dirty="0" err="1"/>
              <a:t>aller</a:t>
            </a:r>
            <a:r>
              <a:rPr dirty="0"/>
              <a:t> Layer </a:t>
            </a:r>
            <a:r>
              <a:rPr dirty="0" err="1"/>
              <a:t>verbessert</a:t>
            </a:r>
            <a:r>
              <a:rPr dirty="0"/>
              <a:t> die </a:t>
            </a:r>
            <a:r>
              <a:rPr dirty="0" err="1"/>
              <a:t>Feinanpassung</a:t>
            </a:r>
            <a:endParaRPr dirty="0"/>
          </a:p>
          <a:p>
            <a:pPr>
              <a:defRPr sz="1300">
                <a:solidFill>
                  <a:srgbClr val="191919"/>
                </a:solidFill>
              </a:defRPr>
            </a:pPr>
            <a:r>
              <a:rPr dirty="0"/>
              <a:t>• Das </a:t>
            </a:r>
            <a:r>
              <a:rPr dirty="0" err="1"/>
              <a:t>Vorgehen</a:t>
            </a:r>
            <a:r>
              <a:rPr dirty="0"/>
              <a:t> ist </a:t>
            </a:r>
            <a:r>
              <a:rPr dirty="0" err="1"/>
              <a:t>besonders</a:t>
            </a:r>
            <a:r>
              <a:rPr dirty="0"/>
              <a:t> </a:t>
            </a:r>
            <a:r>
              <a:rPr dirty="0" err="1"/>
              <a:t>geeignet</a:t>
            </a:r>
            <a:r>
              <a:rPr dirty="0"/>
              <a:t> für </a:t>
            </a:r>
            <a:r>
              <a:rPr dirty="0" err="1"/>
              <a:t>kleine</a:t>
            </a:r>
            <a:r>
              <a:rPr dirty="0"/>
              <a:t> </a:t>
            </a:r>
            <a:r>
              <a:rPr dirty="0" err="1"/>
              <a:t>eigene</a:t>
            </a:r>
            <a:r>
              <a:rPr dirty="0"/>
              <a:t> </a:t>
            </a:r>
            <a:r>
              <a:rPr dirty="0" err="1"/>
              <a:t>Datensätze</a:t>
            </a:r>
            <a:r>
              <a:rPr dirty="0"/>
              <a:t> </a:t>
            </a:r>
            <a:r>
              <a:rPr dirty="0" err="1"/>
              <a:t>wie</a:t>
            </a:r>
            <a:r>
              <a:rPr dirty="0"/>
              <a:t> "Garo"</a:t>
            </a:r>
          </a:p>
          <a:p>
            <a:pPr>
              <a:defRPr sz="1300">
                <a:solidFill>
                  <a:srgbClr val="191919"/>
                </a:solidFill>
              </a:defRPr>
            </a:pPr>
            <a:endParaRPr dirty="0"/>
          </a:p>
          <a:p>
            <a:pPr>
              <a:defRPr sz="1300">
                <a:solidFill>
                  <a:srgbClr val="191919"/>
                </a:solidFill>
              </a:defRPr>
            </a:pPr>
            <a:r>
              <a:rPr dirty="0"/>
              <a:t>Auf </a:t>
            </a:r>
            <a:r>
              <a:rPr dirty="0" err="1"/>
              <a:t>dieser</a:t>
            </a:r>
            <a:r>
              <a:rPr dirty="0"/>
              <a:t> </a:t>
            </a:r>
            <a:r>
              <a:rPr dirty="0" err="1"/>
              <a:t>oberen</a:t>
            </a:r>
            <a:r>
              <a:rPr dirty="0"/>
              <a:t> </a:t>
            </a:r>
            <a:r>
              <a:rPr dirty="0" err="1"/>
              <a:t>Posterhälfte</a:t>
            </a:r>
            <a:r>
              <a:rPr dirty="0"/>
              <a:t> </a:t>
            </a:r>
            <a:r>
              <a:rPr dirty="0" err="1"/>
              <a:t>stehen</a:t>
            </a:r>
            <a:r>
              <a:rPr dirty="0"/>
              <a:t> Titel, Motivation, </a:t>
            </a:r>
            <a:r>
              <a:rPr dirty="0" err="1"/>
              <a:t>Datensatz</a:t>
            </a:r>
            <a:r>
              <a:rPr dirty="0"/>
              <a:t> und Methode – also </a:t>
            </a:r>
            <a:r>
              <a:rPr dirty="0" err="1"/>
              <a:t>alles</a:t>
            </a:r>
            <a:r>
              <a:rPr dirty="0"/>
              <a:t>, was </a:t>
            </a:r>
            <a:r>
              <a:rPr dirty="0" err="1"/>
              <a:t>später</a:t>
            </a:r>
            <a:r>
              <a:rPr dirty="0"/>
              <a:t> </a:t>
            </a:r>
            <a:r>
              <a:rPr dirty="0" err="1"/>
              <a:t>oben</a:t>
            </a:r>
            <a:r>
              <a:rPr dirty="0"/>
              <a:t> auf dem </a:t>
            </a:r>
            <a:r>
              <a:rPr dirty="0" err="1"/>
              <a:t>zusammengeklebten</a:t>
            </a:r>
            <a:r>
              <a:rPr dirty="0"/>
              <a:t> Poster </a:t>
            </a:r>
            <a:r>
              <a:rPr dirty="0" err="1"/>
              <a:t>erscheinen</a:t>
            </a:r>
            <a:r>
              <a:rPr dirty="0"/>
              <a:t> </a:t>
            </a:r>
            <a:r>
              <a:rPr dirty="0" err="1"/>
              <a:t>soll</a:t>
            </a:r>
            <a:r>
              <a:rPr dirty="0"/>
              <a:t>.</a:t>
            </a:r>
          </a:p>
        </p:txBody>
      </p:sp>
      <p:sp>
        <p:nvSpPr>
          <p:cNvPr id="27" name="TextBox 4">
            <a:extLst>
              <a:ext uri="{FF2B5EF4-FFF2-40B4-BE49-F238E27FC236}">
                <a16:creationId xmlns:a16="http://schemas.microsoft.com/office/drawing/2014/main" id="{A358836A-A5F6-087C-D00A-EAA714F24E3A}"/>
              </a:ext>
            </a:extLst>
          </p:cNvPr>
          <p:cNvSpPr txBox="1"/>
          <p:nvPr/>
        </p:nvSpPr>
        <p:spPr>
          <a:xfrm>
            <a:off x="13098780" y="133207"/>
            <a:ext cx="1807845" cy="738664"/>
          </a:xfrm>
          <a:prstGeom prst="rect">
            <a:avLst/>
          </a:prstGeom>
          <a:noFill/>
        </p:spPr>
        <p:txBody>
          <a:bodyPr wrap="square">
            <a:spAutoFit/>
          </a:bodyPr>
          <a:lstStyle/>
          <a:p>
            <a:r>
              <a:rPr lang="de-DE" sz="1400" dirty="0">
                <a:solidFill>
                  <a:srgbClr val="FFFFFF"/>
                </a:solidFill>
              </a:rPr>
              <a:t>Maschinelles Sehen </a:t>
            </a:r>
          </a:p>
          <a:p>
            <a:r>
              <a:rPr lang="de-DE" sz="1400" dirty="0">
                <a:solidFill>
                  <a:srgbClr val="FFFFFF"/>
                </a:solidFill>
              </a:rPr>
              <a:t>SoSe 2026</a:t>
            </a:r>
          </a:p>
          <a:p>
            <a:r>
              <a:rPr lang="de-DE" sz="1400" dirty="0">
                <a:solidFill>
                  <a:srgbClr val="FFFFFF"/>
                </a:solidFill>
              </a:rPr>
              <a:t>Prof. Dr. Hildebrand</a:t>
            </a:r>
            <a:endParaRPr sz="1400" dirty="0">
              <a:solidFill>
                <a:srgbClr val="FFFFFF"/>
              </a:solidFill>
            </a:endParaRPr>
          </a:p>
        </p:txBody>
      </p:sp>
      <p:pic>
        <p:nvPicPr>
          <p:cNvPr id="33" name="Grafik 32">
            <a:extLst>
              <a:ext uri="{FF2B5EF4-FFF2-40B4-BE49-F238E27FC236}">
                <a16:creationId xmlns:a16="http://schemas.microsoft.com/office/drawing/2014/main" id="{8FA70432-113F-87E4-B08D-68C4D8E5B48D}"/>
              </a:ext>
            </a:extLst>
          </p:cNvPr>
          <p:cNvPicPr>
            <a:picLocks noChangeAspect="1"/>
          </p:cNvPicPr>
          <p:nvPr/>
        </p:nvPicPr>
        <p:blipFill>
          <a:blip r:embed="rId2"/>
          <a:srcRect l="16029" t="34041" r="5514" b="20244"/>
          <a:stretch>
            <a:fillRect/>
          </a:stretch>
        </p:blipFill>
        <p:spPr>
          <a:xfrm>
            <a:off x="11403912" y="1289304"/>
            <a:ext cx="3389735" cy="2633472"/>
          </a:xfrm>
          <a:prstGeom prst="rect">
            <a:avLst/>
          </a:prstGeom>
        </p:spPr>
      </p:pic>
      <p:sp>
        <p:nvSpPr>
          <p:cNvPr id="34" name="Rectangle 17">
            <a:extLst>
              <a:ext uri="{FF2B5EF4-FFF2-40B4-BE49-F238E27FC236}">
                <a16:creationId xmlns:a16="http://schemas.microsoft.com/office/drawing/2014/main" id="{6567B910-7261-0918-FA20-81B05D3A8560}"/>
              </a:ext>
            </a:extLst>
          </p:cNvPr>
          <p:cNvSpPr/>
          <p:nvPr/>
        </p:nvSpPr>
        <p:spPr>
          <a:xfrm>
            <a:off x="5413247" y="4206240"/>
            <a:ext cx="9380399" cy="576072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fik 28">
            <a:extLst>
              <a:ext uri="{FF2B5EF4-FFF2-40B4-BE49-F238E27FC236}">
                <a16:creationId xmlns:a16="http://schemas.microsoft.com/office/drawing/2014/main" id="{4D3F9E2F-7D4F-10FA-9792-D28F067367E6}"/>
              </a:ext>
            </a:extLst>
          </p:cNvPr>
          <p:cNvPicPr>
            <a:picLocks noChangeAspect="1"/>
          </p:cNvPicPr>
          <p:nvPr/>
        </p:nvPicPr>
        <p:blipFill>
          <a:blip r:embed="rId3"/>
          <a:stretch>
            <a:fillRect/>
          </a:stretch>
        </p:blipFill>
        <p:spPr>
          <a:xfrm>
            <a:off x="5622608" y="4295996"/>
            <a:ext cx="8883967" cy="55574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5124176" cy="164592"/>
          </a:xfrm>
          <a:prstGeom prst="rect">
            <a:avLst/>
          </a:prstGeom>
          <a:solidFill>
            <a:srgbClr val="D2D2D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277856"/>
            <a:ext cx="15124176" cy="411480"/>
          </a:xfrm>
          <a:prstGeom prst="rect">
            <a:avLst/>
          </a:prstGeom>
          <a:solidFill>
            <a:srgbClr val="464646"/>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320040"/>
            <a:ext cx="4754880" cy="310896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374904"/>
            <a:ext cx="46085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Ergebnisse / Kennzahlen</a:t>
            </a:r>
          </a:p>
        </p:txBody>
      </p:sp>
      <p:sp>
        <p:nvSpPr>
          <p:cNvPr id="6" name="TextBox 5"/>
          <p:cNvSpPr txBox="1"/>
          <p:nvPr/>
        </p:nvSpPr>
        <p:spPr>
          <a:xfrm>
            <a:off x="429768" y="850392"/>
            <a:ext cx="4535424" cy="2468880"/>
          </a:xfrm>
          <a:prstGeom prst="rect">
            <a:avLst/>
          </a:prstGeom>
          <a:noFill/>
        </p:spPr>
        <p:txBody>
          <a:bodyPr wrap="square">
            <a:normAutofit/>
          </a:bodyPr>
          <a:lstStyle/>
          <a:p>
            <a:pPr>
              <a:defRPr sz="1400">
                <a:solidFill>
                  <a:srgbClr val="191919"/>
                </a:solidFill>
              </a:defRPr>
            </a:pPr>
            <a:r>
              <a:t>• Beste Validierungsgenauigkeit: ca. 76 %</a:t>
            </a:r>
          </a:p>
          <a:p>
            <a:pPr>
              <a:defRPr sz="1400">
                <a:solidFill>
                  <a:srgbClr val="191919"/>
                </a:solidFill>
              </a:defRPr>
            </a:pPr>
            <a:r>
              <a:t>• Accuracy im kleinen Testset: 0.9167</a:t>
            </a:r>
          </a:p>
          <a:p>
            <a:pPr>
              <a:defRPr sz="1400">
                <a:solidFill>
                  <a:srgbClr val="191919"/>
                </a:solidFill>
              </a:defRPr>
            </a:pPr>
            <a:r>
              <a:t>• Macro-F1 im kleinen Testset: 0.8011</a:t>
            </a:r>
          </a:p>
          <a:p>
            <a:pPr>
              <a:defRPr sz="1400">
                <a:solidFill>
                  <a:srgbClr val="191919"/>
                </a:solidFill>
              </a:defRPr>
            </a:pPr>
            <a:r>
              <a:t>• Weighted-F1: 0.9373</a:t>
            </a:r>
          </a:p>
          <a:p>
            <a:pPr>
              <a:defRPr sz="1400">
                <a:solidFill>
                  <a:srgbClr val="191919"/>
                </a:solidFill>
              </a:defRPr>
            </a:pPr>
            <a:r>
              <a:t>• Garo erreicht im Testset F1 = 1.0</a:t>
            </a:r>
          </a:p>
          <a:p>
            <a:pPr>
              <a:defRPr sz="1400">
                <a:solidFill>
                  <a:srgbClr val="191919"/>
                </a:solidFill>
              </a:defRPr>
            </a:pPr>
            <a:endParaRPr/>
          </a:p>
          <a:p>
            <a:pPr>
              <a:defRPr sz="1400">
                <a:solidFill>
                  <a:srgbClr val="191919"/>
                </a:solidFill>
              </a:defRPr>
            </a:pPr>
            <a:r>
              <a:t>Damit zeigt das Modell insgesamt eine sehr gute Erkennungsleistung auf den ausgewählten Testbildern.</a:t>
            </a:r>
          </a:p>
        </p:txBody>
      </p:sp>
      <p:sp>
        <p:nvSpPr>
          <p:cNvPr id="7" name="Rectangle 6"/>
          <p:cNvSpPr/>
          <p:nvPr/>
        </p:nvSpPr>
        <p:spPr>
          <a:xfrm>
            <a:off x="5257800" y="320040"/>
            <a:ext cx="4480560" cy="3108960"/>
          </a:xfrm>
          <a:prstGeom prst="rect">
            <a:avLst/>
          </a:prstGeom>
          <a:solidFill>
            <a:srgbClr val="F3F3F3"/>
          </a:solidFill>
          <a:ln>
            <a:solidFill>
              <a:srgbClr val="46464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464646"/>
                </a:solidFill>
              </a:defRPr>
            </a:pPr>
            <a:r>
              <a:t>Confusion Matrix klein</a:t>
            </a:r>
          </a:p>
        </p:txBody>
      </p:sp>
      <p:sp>
        <p:nvSpPr>
          <p:cNvPr id="8" name="Rectangle 7"/>
          <p:cNvSpPr/>
          <p:nvPr/>
        </p:nvSpPr>
        <p:spPr>
          <a:xfrm>
            <a:off x="9966960" y="320040"/>
            <a:ext cx="4846320" cy="3108960"/>
          </a:xfrm>
          <a:prstGeom prst="rect">
            <a:avLst/>
          </a:prstGeom>
          <a:solidFill>
            <a:srgbClr val="F3F3F3"/>
          </a:solidFill>
          <a:ln>
            <a:solidFill>
              <a:srgbClr val="46464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464646"/>
                </a:solidFill>
              </a:defRPr>
            </a:pPr>
            <a:r>
              <a:t>Beispielbilder / Fehlklassifikationen</a:t>
            </a:r>
          </a:p>
        </p:txBody>
      </p:sp>
      <p:sp>
        <p:nvSpPr>
          <p:cNvPr id="9" name="Rectangle 8"/>
          <p:cNvSpPr/>
          <p:nvPr/>
        </p:nvSpPr>
        <p:spPr>
          <a:xfrm>
            <a:off x="320040" y="3657600"/>
            <a:ext cx="475488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3712464"/>
            <a:ext cx="46085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Interpretation</a:t>
            </a:r>
          </a:p>
        </p:txBody>
      </p:sp>
      <p:sp>
        <p:nvSpPr>
          <p:cNvPr id="11" name="TextBox 10"/>
          <p:cNvSpPr txBox="1"/>
          <p:nvPr/>
        </p:nvSpPr>
        <p:spPr>
          <a:xfrm>
            <a:off x="429768" y="4187952"/>
            <a:ext cx="4535424" cy="2103120"/>
          </a:xfrm>
          <a:prstGeom prst="rect">
            <a:avLst/>
          </a:prstGeom>
          <a:noFill/>
        </p:spPr>
        <p:txBody>
          <a:bodyPr wrap="square">
            <a:normAutofit/>
          </a:bodyPr>
          <a:lstStyle/>
          <a:p>
            <a:pPr>
              <a:defRPr sz="1300">
                <a:solidFill>
                  <a:srgbClr val="191919"/>
                </a:solidFill>
              </a:defRPr>
            </a:pPr>
            <a:r>
              <a:t>• Die meisten Testklassen werden perfekt oder fast perfekt erkannt</a:t>
            </a:r>
          </a:p>
          <a:p>
            <a:pPr>
              <a:defRPr sz="1300">
                <a:solidFill>
                  <a:srgbClr val="191919"/>
                </a:solidFill>
              </a:defRPr>
            </a:pPr>
            <a:r>
              <a:t>• Verwechslungen treten nur bei visuell ähnlichen Rassen auf</a:t>
            </a:r>
          </a:p>
          <a:p>
            <a:pPr>
              <a:defRPr sz="1300">
                <a:solidFill>
                  <a:srgbClr val="191919"/>
                </a:solidFill>
              </a:defRPr>
            </a:pPr>
            <a:r>
              <a:t>• Beispiele: Collie vs. Shetland Sheepdog, Appenzeller vs. Entlebucher, Basenji vs. Pembroke, Samoyed vs. Maltese</a:t>
            </a:r>
          </a:p>
          <a:p>
            <a:pPr>
              <a:defRPr sz="1300">
                <a:solidFill>
                  <a:srgbClr val="191919"/>
                </a:solidFill>
              </a:defRPr>
            </a:pPr>
            <a:r>
              <a:t>• Garo wird im Testset nicht mit anderen Klassen verwechselt</a:t>
            </a:r>
          </a:p>
        </p:txBody>
      </p:sp>
      <p:sp>
        <p:nvSpPr>
          <p:cNvPr id="12" name="Rectangle 11"/>
          <p:cNvSpPr/>
          <p:nvPr/>
        </p:nvSpPr>
        <p:spPr>
          <a:xfrm>
            <a:off x="5257800" y="3657600"/>
            <a:ext cx="457200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30952" y="3712464"/>
            <a:ext cx="442569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Diskussion</a:t>
            </a:r>
          </a:p>
        </p:txBody>
      </p:sp>
      <p:sp>
        <p:nvSpPr>
          <p:cNvPr id="14" name="TextBox 13"/>
          <p:cNvSpPr txBox="1"/>
          <p:nvPr/>
        </p:nvSpPr>
        <p:spPr>
          <a:xfrm>
            <a:off x="5367528" y="4187952"/>
            <a:ext cx="4352544" cy="2103120"/>
          </a:xfrm>
          <a:prstGeom prst="rect">
            <a:avLst/>
          </a:prstGeom>
          <a:noFill/>
        </p:spPr>
        <p:txBody>
          <a:bodyPr wrap="square">
            <a:normAutofit/>
          </a:bodyPr>
          <a:lstStyle/>
          <a:p>
            <a:pPr>
              <a:defRPr sz="1300">
                <a:solidFill>
                  <a:srgbClr val="191919"/>
                </a:solidFill>
              </a:defRPr>
            </a:pPr>
            <a:r>
              <a:t>• Transfer Learning funktioniert für diese Aufgabe sehr gut</a:t>
            </a:r>
          </a:p>
          <a:p>
            <a:pPr>
              <a:defRPr sz="1300">
                <a:solidFill>
                  <a:srgbClr val="191919"/>
                </a:solidFill>
              </a:defRPr>
            </a:pPr>
            <a:r>
              <a:t>• Die Zusatzklasse "Garo" kann trotz kleinerem Datensatz zuverlässig gelernt werden</a:t>
            </a:r>
          </a:p>
          <a:p>
            <a:pPr>
              <a:defRPr sz="1300">
                <a:solidFill>
                  <a:srgbClr val="191919"/>
                </a:solidFill>
              </a:defRPr>
            </a:pPr>
            <a:r>
              <a:t>• Die große Klassenanzahl macht die Aufgabe anspruchsvoll</a:t>
            </a:r>
          </a:p>
          <a:p>
            <a:pPr>
              <a:defRPr sz="1300">
                <a:solidFill>
                  <a:srgbClr val="191919"/>
                </a:solidFill>
              </a:defRPr>
            </a:pPr>
            <a:r>
              <a:t>• Die Fehler sind inhaltlich plausibel, weil ähnliche Hunderassen verwechselt werden</a:t>
            </a:r>
          </a:p>
        </p:txBody>
      </p:sp>
      <p:sp>
        <p:nvSpPr>
          <p:cNvPr id="15" name="Rectangle 14"/>
          <p:cNvSpPr/>
          <p:nvPr/>
        </p:nvSpPr>
        <p:spPr>
          <a:xfrm>
            <a:off x="10058400" y="3657600"/>
            <a:ext cx="4754880" cy="2743200"/>
          </a:xfrm>
          <a:prstGeom prst="rect">
            <a:avLst/>
          </a:prstGeom>
          <a:solidFill>
            <a:srgbClr val="F3F3F3"/>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31552" y="3712464"/>
            <a:ext cx="46085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Platz für zusätzliche Inhalte</a:t>
            </a:r>
          </a:p>
        </p:txBody>
      </p:sp>
      <p:sp>
        <p:nvSpPr>
          <p:cNvPr id="17" name="TextBox 16"/>
          <p:cNvSpPr txBox="1"/>
          <p:nvPr/>
        </p:nvSpPr>
        <p:spPr>
          <a:xfrm>
            <a:off x="10168128" y="4187952"/>
            <a:ext cx="4535424" cy="2103120"/>
          </a:xfrm>
          <a:prstGeom prst="rect">
            <a:avLst/>
          </a:prstGeom>
          <a:noFill/>
        </p:spPr>
        <p:txBody>
          <a:bodyPr wrap="square">
            <a:normAutofit/>
          </a:bodyPr>
          <a:lstStyle/>
          <a:p>
            <a:pPr>
              <a:defRPr sz="1300">
                <a:solidFill>
                  <a:srgbClr val="191919"/>
                </a:solidFill>
              </a:defRPr>
            </a:pPr>
            <a:r>
              <a:t>Hier können zusätzliche Diagramme, Klassifikationsbeispiele oder ein größerer Screenshot der Auswertung eingefügt werden.</a:t>
            </a:r>
          </a:p>
        </p:txBody>
      </p:sp>
      <p:sp>
        <p:nvSpPr>
          <p:cNvPr id="18" name="Rectangle 17"/>
          <p:cNvSpPr/>
          <p:nvPr/>
        </p:nvSpPr>
        <p:spPr>
          <a:xfrm>
            <a:off x="320040" y="6629400"/>
            <a:ext cx="7040880" cy="329184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3192" y="6684264"/>
            <a:ext cx="68945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Fazit und Ausblick</a:t>
            </a:r>
          </a:p>
        </p:txBody>
      </p:sp>
      <p:sp>
        <p:nvSpPr>
          <p:cNvPr id="20" name="TextBox 19"/>
          <p:cNvSpPr txBox="1"/>
          <p:nvPr/>
        </p:nvSpPr>
        <p:spPr>
          <a:xfrm>
            <a:off x="429768" y="7159752"/>
            <a:ext cx="6821424" cy="2651760"/>
          </a:xfrm>
          <a:prstGeom prst="rect">
            <a:avLst/>
          </a:prstGeom>
          <a:noFill/>
        </p:spPr>
        <p:txBody>
          <a:bodyPr wrap="square">
            <a:normAutofit/>
          </a:bodyPr>
          <a:lstStyle/>
          <a:p>
            <a:pPr>
              <a:defRPr sz="1300">
                <a:solidFill>
                  <a:srgbClr val="191919"/>
                </a:solidFill>
              </a:defRPr>
            </a:pPr>
            <a:r>
              <a:t>• ResNet18 ist ein sinnvoller Ausgangspunkt für Hundeartenerkennung</a:t>
            </a:r>
          </a:p>
          <a:p>
            <a:pPr>
              <a:defRPr sz="1300">
                <a:solidFill>
                  <a:srgbClr val="191919"/>
                </a:solidFill>
              </a:defRPr>
            </a:pPr>
            <a:r>
              <a:t>• Das Modell erkennt nicht nur viele Hundearten, sondern auch das eigene Haustier als neue Klasse</a:t>
            </a:r>
          </a:p>
          <a:p>
            <a:pPr>
              <a:defRPr sz="1300">
                <a:solidFill>
                  <a:srgbClr val="191919"/>
                </a:solidFill>
              </a:defRPr>
            </a:pPr>
            <a:r>
              <a:t>• Für zukünftige Arbeiten wäre ein Vergleich mit anderen Netzen wie EfficientNet oder ResNet50 interessant</a:t>
            </a:r>
          </a:p>
          <a:p>
            <a:pPr>
              <a:defRPr sz="1300">
                <a:solidFill>
                  <a:srgbClr val="191919"/>
                </a:solidFill>
              </a:defRPr>
            </a:pPr>
            <a:r>
              <a:t>• Zusätzlich könnten mehr Garo-Bilder, stärkeres Augmentieren und ein größeres Testset die Aussagekraft weiter verbessern</a:t>
            </a:r>
          </a:p>
        </p:txBody>
      </p:sp>
      <p:sp>
        <p:nvSpPr>
          <p:cNvPr id="21" name="Rectangle 20"/>
          <p:cNvSpPr/>
          <p:nvPr/>
        </p:nvSpPr>
        <p:spPr>
          <a:xfrm>
            <a:off x="7543800" y="6629400"/>
            <a:ext cx="7269480" cy="329184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16952" y="6684264"/>
            <a:ext cx="71231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Quellen / Hinweise</a:t>
            </a:r>
          </a:p>
        </p:txBody>
      </p:sp>
      <p:sp>
        <p:nvSpPr>
          <p:cNvPr id="23" name="TextBox 22"/>
          <p:cNvSpPr txBox="1"/>
          <p:nvPr/>
        </p:nvSpPr>
        <p:spPr>
          <a:xfrm>
            <a:off x="7653528" y="7159752"/>
            <a:ext cx="7050024" cy="2651760"/>
          </a:xfrm>
          <a:prstGeom prst="rect">
            <a:avLst/>
          </a:prstGeom>
          <a:noFill/>
        </p:spPr>
        <p:txBody>
          <a:bodyPr wrap="square">
            <a:normAutofit/>
          </a:bodyPr>
          <a:lstStyle/>
          <a:p>
            <a:pPr>
              <a:defRPr sz="1200">
                <a:solidFill>
                  <a:srgbClr val="191919"/>
                </a:solidFill>
              </a:defRPr>
            </a:pPr>
            <a:r>
              <a:t>• Stanford Dogs Dataset (Kaggle)</a:t>
            </a:r>
          </a:p>
          <a:p>
            <a:pPr>
              <a:defRPr sz="1200">
                <a:solidFill>
                  <a:srgbClr val="191919"/>
                </a:solidFill>
              </a:defRPr>
            </a:pPr>
            <a:r>
              <a:t>• Vorlesung Maschinelles Sehen: CNNs, ResNet, Transfer Learning</a:t>
            </a:r>
          </a:p>
          <a:p>
            <a:pPr>
              <a:defRPr sz="1200">
                <a:solidFill>
                  <a:srgbClr val="191919"/>
                </a:solidFill>
              </a:defRPr>
            </a:pPr>
            <a:r>
              <a:t>• Eigene Projektfolien: VorbereitungMS_0807</a:t>
            </a:r>
          </a:p>
          <a:p>
            <a:pPr>
              <a:defRPr sz="1200">
                <a:solidFill>
                  <a:srgbClr val="191919"/>
                </a:solidFill>
              </a:defRPr>
            </a:pPr>
            <a:endParaRPr/>
          </a:p>
          <a:p>
            <a:pPr>
              <a:defRPr sz="1200">
                <a:solidFill>
                  <a:srgbClr val="191919"/>
                </a:solidFill>
              </a:defRPr>
            </a:pPr>
            <a:r>
              <a:t>Wichtig für den Druck:</a:t>
            </a:r>
          </a:p>
          <a:p>
            <a:pPr>
              <a:defRPr sz="1200">
                <a:solidFill>
                  <a:srgbClr val="191919"/>
                </a:solidFill>
              </a:defRPr>
            </a:pPr>
            <a:r>
              <a:t>Diese zweite Folie enthält bewusst keinen wiederholten Haupttitel. Sie ist als untere Hälfte des Gesamtposters gedacht und kann direkt unter die erste A3-Landscape-Seite geklebt werden.</a:t>
            </a:r>
          </a:p>
        </p:txBody>
      </p:sp>
      <p:sp>
        <p:nvSpPr>
          <p:cNvPr id="24" name="Rectangle 23"/>
          <p:cNvSpPr/>
          <p:nvPr/>
        </p:nvSpPr>
        <p:spPr>
          <a:xfrm>
            <a:off x="7543800" y="6629400"/>
            <a:ext cx="7269480" cy="3291840"/>
          </a:xfrm>
          <a:prstGeom prst="rect">
            <a:avLst/>
          </a:prstGeom>
          <a:solidFill>
            <a:srgbClr val="FFFFFF"/>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16952" y="6702552"/>
            <a:ext cx="7123176" cy="457200"/>
          </a:xfrm>
          <a:prstGeom prst="rect">
            <a:avLst/>
          </a:prstGeom>
          <a:solidFill>
            <a:srgbClr val="464646"/>
          </a:solidFill>
        </p:spPr>
        <p:txBody>
          <a:bodyPr wrap="none">
            <a:spAutoFit/>
          </a:bodyPr>
          <a:lstStyle/>
          <a:p>
            <a:pPr algn="l"/>
            <a:r>
              <a:rPr sz="2000" b="1">
                <a:solidFill>
                  <a:srgbClr val="FFFFFF"/>
                </a:solidFill>
              </a:rPr>
              <a:t>Modellvergleich: ResNet18 vs. EfficientNet-B0</a:t>
            </a:r>
          </a:p>
        </p:txBody>
      </p:sp>
      <p:pic>
        <p:nvPicPr>
          <p:cNvPr id="28" name="Grafik 27">
            <a:extLst>
              <a:ext uri="{FF2B5EF4-FFF2-40B4-BE49-F238E27FC236}">
                <a16:creationId xmlns:a16="http://schemas.microsoft.com/office/drawing/2014/main" id="{90DAB145-873B-4B0C-263F-9B4A7FEA1A64}"/>
              </a:ext>
            </a:extLst>
          </p:cNvPr>
          <p:cNvPicPr>
            <a:picLocks noChangeAspect="1"/>
          </p:cNvPicPr>
          <p:nvPr/>
        </p:nvPicPr>
        <p:blipFill>
          <a:blip r:embed="rId2"/>
          <a:stretch>
            <a:fillRect/>
          </a:stretch>
        </p:blipFill>
        <p:spPr>
          <a:xfrm>
            <a:off x="10058401" y="3632954"/>
            <a:ext cx="4754880" cy="2767846"/>
          </a:xfrm>
          <a:prstGeom prst="rect">
            <a:avLst/>
          </a:prstGeom>
        </p:spPr>
      </p:pic>
      <p:graphicFrame>
        <p:nvGraphicFramePr>
          <p:cNvPr id="29" name="Tabelle 28">
            <a:extLst>
              <a:ext uri="{FF2B5EF4-FFF2-40B4-BE49-F238E27FC236}">
                <a16:creationId xmlns:a16="http://schemas.microsoft.com/office/drawing/2014/main" id="{12B2A381-8D3E-BB80-37F2-0BA3FB8C2726}"/>
              </a:ext>
            </a:extLst>
          </p:cNvPr>
          <p:cNvGraphicFramePr>
            <a:graphicFrameLocks noGrp="1"/>
          </p:cNvGraphicFramePr>
          <p:nvPr>
            <p:extLst>
              <p:ext uri="{D42A27DB-BD31-4B8C-83A1-F6EECF244321}">
                <p14:modId xmlns:p14="http://schemas.microsoft.com/office/powerpoint/2010/main" val="2668681653"/>
              </p:ext>
            </p:extLst>
          </p:nvPr>
        </p:nvGraphicFramePr>
        <p:xfrm>
          <a:off x="7605903" y="7251192"/>
          <a:ext cx="7123176" cy="2473960"/>
        </p:xfrm>
        <a:graphic>
          <a:graphicData uri="http://schemas.openxmlformats.org/drawingml/2006/table">
            <a:tbl>
              <a:tblPr firstRow="1" bandRow="1">
                <a:tableStyleId>{073A0DAA-6AF3-43AB-8588-CEC1D06C72B9}</a:tableStyleId>
              </a:tblPr>
              <a:tblGrid>
                <a:gridCol w="3561588">
                  <a:extLst>
                    <a:ext uri="{9D8B030D-6E8A-4147-A177-3AD203B41FA5}">
                      <a16:colId xmlns:a16="http://schemas.microsoft.com/office/drawing/2014/main" val="4177866289"/>
                    </a:ext>
                  </a:extLst>
                </a:gridCol>
                <a:gridCol w="3561588">
                  <a:extLst>
                    <a:ext uri="{9D8B030D-6E8A-4147-A177-3AD203B41FA5}">
                      <a16:colId xmlns:a16="http://schemas.microsoft.com/office/drawing/2014/main" val="328259036"/>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ResNet18 (kleines </a:t>
                      </a:r>
                      <a:r>
                        <a:rPr lang="de-DE" dirty="0" err="1"/>
                        <a:t>Testset</a:t>
                      </a:r>
                      <a:r>
                        <a:rPr lang="de-DE" dirty="0"/>
                        <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EfficientNet-B0 (gleiches </a:t>
                      </a:r>
                      <a:r>
                        <a:rPr lang="de-DE" dirty="0" err="1"/>
                        <a:t>Testset</a:t>
                      </a:r>
                      <a:r>
                        <a:rPr lang="de-DE" dirty="0"/>
                        <a:t>):</a:t>
                      </a:r>
                    </a:p>
                  </a:txBody>
                  <a:tcPr/>
                </a:tc>
                <a:extLst>
                  <a:ext uri="{0D108BD9-81ED-4DB2-BD59-A6C34878D82A}">
                    <a16:rowId xmlns:a16="http://schemas.microsoft.com/office/drawing/2014/main" val="1649440909"/>
                  </a:ext>
                </a:extLst>
              </a:tr>
              <a:tr h="370840">
                <a:tc>
                  <a:txBody>
                    <a:bodyPr/>
                    <a:lstStyle/>
                    <a:p>
                      <a:pPr>
                        <a:defRPr sz="1200">
                          <a:solidFill>
                            <a:srgbClr val="191919"/>
                          </a:solidFill>
                        </a:defRPr>
                      </a:pPr>
                      <a:r>
                        <a:rPr lang="de-DE" dirty="0"/>
                        <a:t>• </a:t>
                      </a:r>
                      <a:r>
                        <a:rPr lang="de-DE" dirty="0" err="1"/>
                        <a:t>Accuracy</a:t>
                      </a:r>
                      <a:r>
                        <a:rPr lang="de-DE" dirty="0"/>
                        <a:t>: 0.9167</a:t>
                      </a:r>
                    </a:p>
                    <a:p>
                      <a:pPr>
                        <a:defRPr sz="1200">
                          <a:solidFill>
                            <a:srgbClr val="191919"/>
                          </a:solidFill>
                        </a:defRPr>
                      </a:pPr>
                      <a:r>
                        <a:rPr lang="de-DE" dirty="0"/>
                        <a:t>• Macro-F1: 0.8011</a:t>
                      </a:r>
                    </a:p>
                    <a:p>
                      <a:pPr>
                        <a:defRPr sz="1200">
                          <a:solidFill>
                            <a:srgbClr val="191919"/>
                          </a:solidFill>
                        </a:defRPr>
                      </a:pPr>
                      <a:r>
                        <a:rPr lang="de-DE" dirty="0"/>
                        <a:t>• Weighted-F1: 0.9373</a:t>
                      </a:r>
                    </a:p>
                    <a:p>
                      <a:pPr>
                        <a:defRPr sz="1200">
                          <a:solidFill>
                            <a:srgbClr val="191919"/>
                          </a:solidFill>
                        </a:defRPr>
                      </a:pPr>
                      <a:r>
                        <a:rPr lang="de-DE" dirty="0"/>
                        <a:t>• Garo: F1 = 1.0 (6/6 korrekt)</a:t>
                      </a:r>
                    </a:p>
                  </a:txBody>
                  <a:tcPr/>
                </a:tc>
                <a:tc>
                  <a:txBody>
                    <a:bodyPr/>
                    <a:lstStyle/>
                    <a:p>
                      <a:pPr>
                        <a:defRPr sz="1200">
                          <a:solidFill>
                            <a:srgbClr val="191919"/>
                          </a:solidFill>
                        </a:defRPr>
                      </a:pPr>
                      <a:r>
                        <a:rPr lang="de-DE" dirty="0"/>
                        <a:t>• </a:t>
                      </a:r>
                      <a:r>
                        <a:rPr lang="de-DE" dirty="0" err="1"/>
                        <a:t>Accuracy</a:t>
                      </a:r>
                      <a:r>
                        <a:rPr lang="de-DE" dirty="0"/>
                        <a:t>: 0.8784</a:t>
                      </a:r>
                    </a:p>
                    <a:p>
                      <a:pPr>
                        <a:defRPr sz="1200">
                          <a:solidFill>
                            <a:srgbClr val="191919"/>
                          </a:solidFill>
                        </a:defRPr>
                      </a:pPr>
                      <a:r>
                        <a:rPr lang="de-DE" dirty="0"/>
                        <a:t>• Macro-F1: 0.6947</a:t>
                      </a:r>
                    </a:p>
                    <a:p>
                      <a:pPr>
                        <a:defRPr sz="1200">
                          <a:solidFill>
                            <a:srgbClr val="191919"/>
                          </a:solidFill>
                        </a:defRPr>
                      </a:pPr>
                      <a:r>
                        <a:rPr lang="de-DE" dirty="0"/>
                        <a:t>• Weighted-F1: 0.9064</a:t>
                      </a:r>
                    </a:p>
                    <a:p>
                      <a:pPr>
                        <a:defRPr sz="1200">
                          <a:solidFill>
                            <a:srgbClr val="191919"/>
                          </a:solidFill>
                        </a:defRPr>
                      </a:pPr>
                      <a:r>
                        <a:rPr lang="de-DE" dirty="0"/>
                        <a:t>• Garo: F1 = 1.0 (6/6 korrekt)</a:t>
                      </a:r>
                    </a:p>
                  </a:txBody>
                  <a:tcPr/>
                </a:tc>
                <a:extLst>
                  <a:ext uri="{0D108BD9-81ED-4DB2-BD59-A6C34878D82A}">
                    <a16:rowId xmlns:a16="http://schemas.microsoft.com/office/drawing/2014/main" val="1899096288"/>
                  </a:ext>
                </a:extLst>
              </a:tr>
              <a:tr h="370840">
                <a:tc gridSpan="2">
                  <a:txBody>
                    <a:bodyPr/>
                    <a:lstStyle/>
                    <a:p>
                      <a:pPr>
                        <a:defRPr sz="1200">
                          <a:solidFill>
                            <a:srgbClr val="191919"/>
                          </a:solidFill>
                        </a:defRPr>
                      </a:pPr>
                      <a:r>
                        <a:rPr lang="de-DE" dirty="0"/>
                        <a:t>Beobachtung:</a:t>
                      </a:r>
                    </a:p>
                    <a:p>
                      <a:pPr>
                        <a:defRPr sz="1200">
                          <a:solidFill>
                            <a:srgbClr val="191919"/>
                          </a:solidFill>
                        </a:defRPr>
                      </a:pPr>
                      <a:r>
                        <a:rPr lang="de-DE" dirty="0"/>
                        <a:t>• Beide Modelle erkennen Garo perfekt.</a:t>
                      </a:r>
                    </a:p>
                    <a:p>
                      <a:pPr>
                        <a:defRPr sz="1200">
                          <a:solidFill>
                            <a:srgbClr val="191919"/>
                          </a:solidFill>
                        </a:defRPr>
                      </a:pPr>
                      <a:r>
                        <a:rPr lang="de-DE" dirty="0"/>
                        <a:t>• ResNet18 ist auf diesem </a:t>
                      </a:r>
                      <a:r>
                        <a:rPr lang="de-DE" dirty="0" err="1"/>
                        <a:t>Testset</a:t>
                      </a:r>
                      <a:r>
                        <a:rPr lang="de-DE" dirty="0"/>
                        <a:t> insgesamt etwas besser,</a:t>
                      </a:r>
                    </a:p>
                    <a:p>
                      <a:pPr>
                        <a:defRPr sz="1200">
                          <a:solidFill>
                            <a:srgbClr val="191919"/>
                          </a:solidFill>
                        </a:defRPr>
                      </a:pPr>
                      <a:r>
                        <a:rPr lang="de-DE" dirty="0"/>
                        <a:t>  EfficientNet-B0 zeigt aber ähnliche starke Werte und</a:t>
                      </a:r>
                    </a:p>
                    <a:p>
                      <a:pPr>
                        <a:defRPr sz="1200">
                          <a:solidFill>
                            <a:srgbClr val="191919"/>
                          </a:solidFill>
                        </a:defRPr>
                      </a:pPr>
                      <a:r>
                        <a:rPr lang="de-DE" dirty="0"/>
                        <a:t>  könnte für größere Datensätze interessant sein.</a:t>
                      </a:r>
                    </a:p>
                    <a:p>
                      <a:endParaRPr lang="de-DE" dirty="0"/>
                    </a:p>
                  </a:txBody>
                  <a:tcPr/>
                </a:tc>
                <a:tc hMerge="1">
                  <a:txBody>
                    <a:bodyPr/>
                    <a:lstStyle/>
                    <a:p>
                      <a:endParaRPr lang="de-DE" dirty="0"/>
                    </a:p>
                  </a:txBody>
                  <a:tcPr/>
                </a:tc>
                <a:extLst>
                  <a:ext uri="{0D108BD9-81ED-4DB2-BD59-A6C34878D82A}">
                    <a16:rowId xmlns:a16="http://schemas.microsoft.com/office/drawing/2014/main" val="4071708876"/>
                  </a:ext>
                </a:extLst>
              </a:tr>
            </a:tbl>
          </a:graphicData>
        </a:graphic>
      </p:graphicFrame>
      <p:pic>
        <p:nvPicPr>
          <p:cNvPr id="31" name="Grafik 30">
            <a:extLst>
              <a:ext uri="{FF2B5EF4-FFF2-40B4-BE49-F238E27FC236}">
                <a16:creationId xmlns:a16="http://schemas.microsoft.com/office/drawing/2014/main" id="{135F5DA3-5DAB-C0BD-7867-83373072C5EB}"/>
              </a:ext>
            </a:extLst>
          </p:cNvPr>
          <p:cNvPicPr>
            <a:picLocks noChangeAspect="1"/>
          </p:cNvPicPr>
          <p:nvPr/>
        </p:nvPicPr>
        <p:blipFill>
          <a:blip r:embed="rId3"/>
          <a:srcRect r="6805"/>
          <a:stretch>
            <a:fillRect/>
          </a:stretch>
        </p:blipFill>
        <p:spPr>
          <a:xfrm>
            <a:off x="5257800" y="273939"/>
            <a:ext cx="4572000" cy="3227993"/>
          </a:xfrm>
          <a:prstGeom prst="rect">
            <a:avLst/>
          </a:prstGeom>
        </p:spPr>
      </p:pic>
      <p:pic>
        <p:nvPicPr>
          <p:cNvPr id="33" name="Grafik 32">
            <a:extLst>
              <a:ext uri="{FF2B5EF4-FFF2-40B4-BE49-F238E27FC236}">
                <a16:creationId xmlns:a16="http://schemas.microsoft.com/office/drawing/2014/main" id="{3B621ACC-9EC5-2EA6-7BD8-CC0BFE2E0D86}"/>
              </a:ext>
            </a:extLst>
          </p:cNvPr>
          <p:cNvPicPr>
            <a:picLocks noChangeAspect="1"/>
          </p:cNvPicPr>
          <p:nvPr/>
        </p:nvPicPr>
        <p:blipFill>
          <a:blip r:embed="rId4"/>
          <a:stretch>
            <a:fillRect/>
          </a:stretch>
        </p:blipFill>
        <p:spPr>
          <a:xfrm>
            <a:off x="9966960" y="320040"/>
            <a:ext cx="4821627"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690</Words>
  <Application>Microsoft Office PowerPoint</Application>
  <PresentationFormat>Benutzerdefiniert</PresentationFormat>
  <Paragraphs>88</Paragraphs>
  <Slides>2</Slides>
  <Notes>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2</vt:i4>
      </vt:variant>
    </vt:vector>
  </HeadingPairs>
  <TitlesOfParts>
    <vt:vector size="5" baseType="lpstr">
      <vt:lpstr>Arial</vt:lpstr>
      <vt:lpstr>Calibri</vt:lpstr>
      <vt:lpstr>Office Theme</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Tobias D.</dc:creator>
  <cp:keywords/>
  <dc:description>generated using python-pptx</dc:description>
  <cp:lastModifiedBy>Tobias D.</cp:lastModifiedBy>
  <cp:revision>5</cp:revision>
  <dcterms:created xsi:type="dcterms:W3CDTF">2013-01-27T09:14:16Z</dcterms:created>
  <dcterms:modified xsi:type="dcterms:W3CDTF">2026-07-26T18:24:24Z</dcterms:modified>
  <cp:category/>
</cp:coreProperties>
</file>