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5" r:id="rId8"/>
    <p:sldId id="263" r:id="rId9"/>
    <p:sldId id="267" r:id="rId10"/>
    <p:sldId id="264" r:id="rId11"/>
    <p:sldId id="259" r:id="rId12"/>
    <p:sldId id="266" r:id="rId13"/>
    <p:sldId id="268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7FB7DF-60B9-2D02-C42F-56865C5F08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4164E73-9859-2DB4-B040-55316571A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C9F757-5287-7F29-7746-84D924C90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6AC66-B1FE-4A7B-8EB8-CF4670045FE2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2EC67F-201D-B627-BB38-E711DAF19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A139FF-23F5-605E-111D-C85A27DD2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CA275-9A27-4BE0-94B8-D2BA3C84BE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4644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82D6E6-447B-B435-28A3-A8E168A7E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2C45FB-5A41-FEF2-1A9B-32F696DAF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295C5D-9657-5F98-CECD-AC2A65571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6AC66-B1FE-4A7B-8EB8-CF4670045FE2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C0410C-05B8-8842-8C3E-ABFE7EB36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31581C-5A5E-F90D-4D08-BF9A7771A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CA275-9A27-4BE0-94B8-D2BA3C84BE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1799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B1D53A-85D1-565C-EB78-AD459B7D1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4C41D91-459D-7C33-C69C-9131FE8C5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7FD804-E1F7-A541-FB7B-62F5F3EC3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6AC66-B1FE-4A7B-8EB8-CF4670045FE2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A22164-E0A6-6360-F56E-C0D188911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C42C50-4D40-3D11-9825-BECDA0928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CA275-9A27-4BE0-94B8-D2BA3C84BE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5831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583F01-AFD5-0EFC-FB06-60A16199A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E78742-2DD6-4555-D238-5C8E26393C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C239BFD-83D6-C8EE-4238-DF38BE082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0F70ED4-F968-A49F-A82C-D7BA3EEEB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6AC66-B1FE-4A7B-8EB8-CF4670045FE2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4E23C8-8E56-FF1F-5106-FDBA8BA16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26025D3-2A24-1025-0AEE-3FC84BBC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CA275-9A27-4BE0-94B8-D2BA3C84BE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0537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A3ACE0-1490-85C7-7345-38129AE25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E2F26A6-CA14-029C-D97C-0C9286154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793D7C6-95A7-3ACF-73CB-375AE194B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0A6275A-95BA-AE90-D1E1-CCE0896C8D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7B20A57-C72C-746F-C479-5DB2EC999A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E9C354A-3B9B-DF13-766A-0BB099B17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6AC66-B1FE-4A7B-8EB8-CF4670045FE2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7507A9B-47FC-C241-04D8-25455341E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523CDB6-EF27-67FD-61CB-EB03BAEAD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CA275-9A27-4BE0-94B8-D2BA3C84BE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208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D9590A-EDF6-EA0C-6345-CB2760AC6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3DE3EBD-296C-B3F7-345F-69AB3E9B1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6AC66-B1FE-4A7B-8EB8-CF4670045FE2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C20962A-F974-C3CD-E484-4FD4E3BB2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C7A24FC-F45C-2239-96F1-A7B29F2D9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CA275-9A27-4BE0-94B8-D2BA3C84BE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5135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8CB6078-D4E6-E4FF-4332-B2DF74AD4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6AC66-B1FE-4A7B-8EB8-CF4670045FE2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B6FFB60-A2C8-8DFC-C575-5A6C7A54E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9F36EB-2C5C-A512-9174-0339558CF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CA275-9A27-4BE0-94B8-D2BA3C84BE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3862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9FE223-B00C-9013-B97B-32A0689B5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511F6F-AA13-D43C-BF05-28B78DC26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E51A29-FDA3-9309-B23D-F643F9D64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A01C85C-6C3E-9C1E-1AD1-095B78872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6AC66-B1FE-4A7B-8EB8-CF4670045FE2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7718945-31EB-2388-C396-D57246982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56B8463-FA42-3BB7-8068-85D12CB71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CA275-9A27-4BE0-94B8-D2BA3C84BE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50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56B9DE-0FB0-DE84-0DDC-1F04DFC17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7E24951-79AC-3A7D-005C-B872D3CD6E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E416802-F54E-AA6A-BA60-D97731AB9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FC93EF2-295C-EA7A-268E-FB7BB0766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6AC66-B1FE-4A7B-8EB8-CF4670045FE2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4AB0A8B-2478-E645-0940-4D22E74EA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DAA4AE5-8D3F-6591-A2E4-CE0B5FA5D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CA275-9A27-4BE0-94B8-D2BA3C84BE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8725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CE3E38-03FE-3B3F-F530-F50F60AA2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40209D0-CD56-9BBC-DD01-7CBF2BF48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65D2EB-40CA-8591-0B89-8A5961C2A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6AC66-B1FE-4A7B-8EB8-CF4670045FE2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15D467-36CA-E58E-EA74-5CFC1C049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E3EFF31-38DB-5687-56D3-D144593EC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CA275-9A27-4BE0-94B8-D2BA3C84BE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4352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E8A43B0-132F-7F2C-ACD7-0A6FE83345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D2E0777-C8E4-13BD-1851-B8AECEA02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87EC32-56DB-3733-1608-90699D783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6AC66-B1FE-4A7B-8EB8-CF4670045FE2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C5316D-54F1-CD5F-AE96-56EC6D66F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5EEBC0-B1FB-B294-263E-0FD0B7BF9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CA275-9A27-4BE0-94B8-D2BA3C84BE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5718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61A8735-EB20-C0F6-702B-A6878A4E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4EA71B4-E813-5A39-0981-3A154A84A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E45CAD-C845-F6F5-6DC8-B341E550C4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56AC66-B1FE-4A7B-8EB8-CF4670045FE2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13F8E8-5B36-EC5F-9103-6647AB308E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6E6B60-A722-DEC1-0D75-3CC1942E6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4CA275-9A27-4BE0-94B8-D2BA3C84BE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400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7DCF5EF1-D323-721D-5C5B-C41C993A17F6}"/>
              </a:ext>
            </a:extLst>
          </p:cNvPr>
          <p:cNvSpPr/>
          <p:nvPr/>
        </p:nvSpPr>
        <p:spPr>
          <a:xfrm>
            <a:off x="1071716" y="676675"/>
            <a:ext cx="10048568" cy="22220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6E09347-DEA1-5053-9A6D-69F290694F55}"/>
              </a:ext>
            </a:extLst>
          </p:cNvPr>
          <p:cNvSpPr txBox="1"/>
          <p:nvPr/>
        </p:nvSpPr>
        <p:spPr>
          <a:xfrm>
            <a:off x="2163096" y="1002890"/>
            <a:ext cx="86523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600" b="1" dirty="0">
                <a:solidFill>
                  <a:schemeClr val="bg1"/>
                </a:solidFill>
              </a:rPr>
              <a:t>Project DAWG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A30B5CC-C150-17B5-32DA-508B6C361F4D}"/>
              </a:ext>
            </a:extLst>
          </p:cNvPr>
          <p:cNvSpPr txBox="1"/>
          <p:nvPr/>
        </p:nvSpPr>
        <p:spPr>
          <a:xfrm>
            <a:off x="1209366" y="3774570"/>
            <a:ext cx="9350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Hundeartenerkennung + Erkennung meines Haustieres unter anderen Hundearten. 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766851E-1B25-F1AC-D9DF-9F7C60A1C6CF}"/>
              </a:ext>
            </a:extLst>
          </p:cNvPr>
          <p:cNvSpPr txBox="1"/>
          <p:nvPr/>
        </p:nvSpPr>
        <p:spPr>
          <a:xfrm>
            <a:off x="1209366" y="3271683"/>
            <a:ext cx="3087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Zielsetzung: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FE2DF182-BEA5-C839-FEEF-6049631A2B4B}"/>
              </a:ext>
            </a:extLst>
          </p:cNvPr>
          <p:cNvSpPr/>
          <p:nvPr/>
        </p:nvSpPr>
        <p:spPr>
          <a:xfrm>
            <a:off x="10432025" y="6331974"/>
            <a:ext cx="1563329" cy="4326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4B6605E-D54F-DB80-4228-1EE3F547D8F8}"/>
              </a:ext>
            </a:extLst>
          </p:cNvPr>
          <p:cNvSpPr txBox="1"/>
          <p:nvPr/>
        </p:nvSpPr>
        <p:spPr>
          <a:xfrm>
            <a:off x="10432026" y="6363618"/>
            <a:ext cx="175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Tobias Daiger</a:t>
            </a:r>
          </a:p>
        </p:txBody>
      </p:sp>
    </p:spTree>
    <p:extLst>
      <p:ext uri="{BB962C8B-B14F-4D97-AF65-F5344CB8AC3E}">
        <p14:creationId xmlns:p14="http://schemas.microsoft.com/office/powerpoint/2010/main" val="1657699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65D5A-59E8-D4B1-59A2-032B083D6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64EADBA7-9758-78A2-1F0C-F06B81995A49}"/>
              </a:ext>
            </a:extLst>
          </p:cNvPr>
          <p:cNvSpPr txBox="1"/>
          <p:nvPr/>
        </p:nvSpPr>
        <p:spPr>
          <a:xfrm>
            <a:off x="403121" y="302342"/>
            <a:ext cx="7443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Was wurde bisher gemacht?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BDA7818-C864-0820-B032-BB09E0A0DA88}"/>
              </a:ext>
            </a:extLst>
          </p:cNvPr>
          <p:cNvSpPr txBox="1"/>
          <p:nvPr/>
        </p:nvSpPr>
        <p:spPr>
          <a:xfrm>
            <a:off x="206476" y="6186326"/>
            <a:ext cx="72562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https://www.kaggle.com/datasets/jessicali9530/stanford-dogs-dataset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29755E5-1EC7-189F-3531-295CE41F2A3A}"/>
              </a:ext>
            </a:extLst>
          </p:cNvPr>
          <p:cNvSpPr txBox="1"/>
          <p:nvPr/>
        </p:nvSpPr>
        <p:spPr>
          <a:xfrm>
            <a:off x="639097" y="1720645"/>
            <a:ext cx="7649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Aufbau und Training eines Neuronalen Netzwerkes ResNet18 auf Basis der Stanford Dogs Dataset über </a:t>
            </a:r>
            <a:r>
              <a:rPr lang="de-DE" dirty="0" err="1"/>
              <a:t>Kaggle</a:t>
            </a:r>
            <a:r>
              <a:rPr lang="de-DE" dirty="0"/>
              <a:t> , </a:t>
            </a:r>
            <a:r>
              <a:rPr lang="de-DE" dirty="0" err="1"/>
              <a:t>TransferLearning</a:t>
            </a:r>
            <a:r>
              <a:rPr lang="de-DE" dirty="0"/>
              <a:t>+ Umsetzung in Python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FB053CE-95B3-6F20-5193-834CE591F04E}"/>
              </a:ext>
            </a:extLst>
          </p:cNvPr>
          <p:cNvSpPr txBox="1"/>
          <p:nvPr/>
        </p:nvSpPr>
        <p:spPr>
          <a:xfrm>
            <a:off x="639096" y="3244334"/>
            <a:ext cx="7649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Erstellung und Einbindung eigenem Datensatz von Haustier „Garo“</a:t>
            </a:r>
          </a:p>
          <a:p>
            <a:r>
              <a:rPr lang="de-DE" dirty="0"/>
              <a:t>	     =&gt;Training als 121. Klasse 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EC55860-ED65-AA15-0AC6-383CA7B94144}"/>
              </a:ext>
            </a:extLst>
          </p:cNvPr>
          <p:cNvSpPr txBox="1"/>
          <p:nvPr/>
        </p:nvSpPr>
        <p:spPr>
          <a:xfrm>
            <a:off x="850491" y="2460522"/>
            <a:ext cx="7649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120 Verschiedene Hundearten mit jeweils knapp 170 Trainingsbildern</a:t>
            </a:r>
          </a:p>
          <a:p>
            <a:r>
              <a:rPr lang="de-DE" dirty="0"/>
              <a:t>	=&gt; Über 20.000 Trainingsbilder 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7728E4E-49BD-B58C-8F7A-02C2B2B36E81}"/>
              </a:ext>
            </a:extLst>
          </p:cNvPr>
          <p:cNvSpPr txBox="1"/>
          <p:nvPr/>
        </p:nvSpPr>
        <p:spPr>
          <a:xfrm>
            <a:off x="629264" y="4251346"/>
            <a:ext cx="68334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Testing mit 17 ausgewählten Hundearten aus dem Dataset mit jeweils 3-5 Fotos, + Garo Klasse mit 6 Bildern</a:t>
            </a:r>
          </a:p>
          <a:p>
            <a:endParaRPr lang="de-DE" dirty="0"/>
          </a:p>
          <a:p>
            <a:r>
              <a:rPr lang="de-DE" dirty="0"/>
              <a:t>Auswertung: Aufbau einer kleinen und großen </a:t>
            </a:r>
            <a:r>
              <a:rPr lang="de-DE" dirty="0" err="1"/>
              <a:t>Confusion</a:t>
            </a:r>
            <a:r>
              <a:rPr lang="de-DE" dirty="0"/>
              <a:t> Matrix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EF794A56-AED8-E18D-6AEB-91D72E4C7E13}"/>
              </a:ext>
            </a:extLst>
          </p:cNvPr>
          <p:cNvSpPr/>
          <p:nvPr/>
        </p:nvSpPr>
        <p:spPr>
          <a:xfrm>
            <a:off x="10432025" y="6331974"/>
            <a:ext cx="1563329" cy="4326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0A1DD3D-EC5E-3C27-0A62-D976BEF989AE}"/>
              </a:ext>
            </a:extLst>
          </p:cNvPr>
          <p:cNvSpPr txBox="1"/>
          <p:nvPr/>
        </p:nvSpPr>
        <p:spPr>
          <a:xfrm>
            <a:off x="10432026" y="6363618"/>
            <a:ext cx="175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Tobias Daiger</a:t>
            </a:r>
          </a:p>
        </p:txBody>
      </p:sp>
    </p:spTree>
    <p:extLst>
      <p:ext uri="{BB962C8B-B14F-4D97-AF65-F5344CB8AC3E}">
        <p14:creationId xmlns:p14="http://schemas.microsoft.com/office/powerpoint/2010/main" val="417540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25D2E-7933-540C-4C2E-56394C5C0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B64E2FA3-098C-0C3D-F02E-D19736B0B9A8}"/>
              </a:ext>
            </a:extLst>
          </p:cNvPr>
          <p:cNvSpPr txBox="1"/>
          <p:nvPr/>
        </p:nvSpPr>
        <p:spPr>
          <a:xfrm>
            <a:off x="403121" y="302342"/>
            <a:ext cx="7443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Kurze Auswertung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C44A547-2B3D-2BAB-1453-D8E41F41205C}"/>
              </a:ext>
            </a:extLst>
          </p:cNvPr>
          <p:cNvSpPr txBox="1"/>
          <p:nvPr/>
        </p:nvSpPr>
        <p:spPr>
          <a:xfrm>
            <a:off x="403120" y="825995"/>
            <a:ext cx="7443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dataset_summary</a:t>
            </a:r>
            <a:endParaRPr lang="de-DE" sz="24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CBF45D2-4346-377F-EB93-3C4F509C7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6141" y="374633"/>
            <a:ext cx="3343340" cy="5863973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BCA75CBA-B2E0-A376-4958-339F38F635E2}"/>
              </a:ext>
            </a:extLst>
          </p:cNvPr>
          <p:cNvSpPr txBox="1"/>
          <p:nvPr/>
        </p:nvSpPr>
        <p:spPr>
          <a:xfrm>
            <a:off x="658761" y="1811313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Wir trainieren ein ResNet18 auf 121 Klassen mit </a:t>
            </a:r>
            <a:r>
              <a:rPr lang="de-DE" dirty="0" err="1"/>
              <a:t>ca</a:t>
            </a:r>
            <a:r>
              <a:rPr lang="de-DE" dirty="0"/>
              <a:t> 20.000 Trainingsbildern</a:t>
            </a:r>
          </a:p>
          <a:p>
            <a:endParaRPr lang="de-DE" dirty="0"/>
          </a:p>
          <a:p>
            <a:r>
              <a:rPr lang="de-DE" dirty="0"/>
              <a:t>Garo hat 91 Trainingsbilder</a:t>
            </a:r>
          </a:p>
          <a:p>
            <a:endParaRPr lang="de-DE" dirty="0"/>
          </a:p>
          <a:p>
            <a:r>
              <a:rPr lang="de-DE" dirty="0"/>
              <a:t>Die beste Validierungsgenauigkeit liegt bei </a:t>
            </a:r>
            <a:r>
              <a:rPr lang="de-DE" dirty="0" err="1"/>
              <a:t>ca</a:t>
            </a:r>
            <a:r>
              <a:rPr lang="de-DE" dirty="0"/>
              <a:t> 76 %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54357506-1747-5D73-E5CF-910D4A12D5CE}"/>
              </a:ext>
            </a:extLst>
          </p:cNvPr>
          <p:cNvSpPr/>
          <p:nvPr/>
        </p:nvSpPr>
        <p:spPr>
          <a:xfrm>
            <a:off x="4306529" y="319408"/>
            <a:ext cx="1936955" cy="6292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21B431A-2EFF-C1AF-EB8D-A84383AB0538}"/>
              </a:ext>
            </a:extLst>
          </p:cNvPr>
          <p:cNvSpPr txBox="1"/>
          <p:nvPr/>
        </p:nvSpPr>
        <p:spPr>
          <a:xfrm>
            <a:off x="4645741" y="378402"/>
            <a:ext cx="1774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</a:rPr>
              <a:t>Training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C11D7099-F268-FD24-167C-B11722BFE294}"/>
              </a:ext>
            </a:extLst>
          </p:cNvPr>
          <p:cNvSpPr/>
          <p:nvPr/>
        </p:nvSpPr>
        <p:spPr>
          <a:xfrm>
            <a:off x="10432025" y="6331974"/>
            <a:ext cx="1563329" cy="4326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38AB67F-020F-317C-4175-77F4362DF98D}"/>
              </a:ext>
            </a:extLst>
          </p:cNvPr>
          <p:cNvSpPr txBox="1"/>
          <p:nvPr/>
        </p:nvSpPr>
        <p:spPr>
          <a:xfrm>
            <a:off x="10432026" y="6363618"/>
            <a:ext cx="175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Tobias Daiger</a:t>
            </a:r>
          </a:p>
        </p:txBody>
      </p:sp>
    </p:spTree>
    <p:extLst>
      <p:ext uri="{BB962C8B-B14F-4D97-AF65-F5344CB8AC3E}">
        <p14:creationId xmlns:p14="http://schemas.microsoft.com/office/powerpoint/2010/main" val="1874715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A4926-4306-E2B7-4D86-8BF64734A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9D631063-5050-8F64-D10E-3FADAAF1F6E6}"/>
              </a:ext>
            </a:extLst>
          </p:cNvPr>
          <p:cNvSpPr txBox="1"/>
          <p:nvPr/>
        </p:nvSpPr>
        <p:spPr>
          <a:xfrm>
            <a:off x="403121" y="302342"/>
            <a:ext cx="7443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Kurze Auswertung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6582B78-6722-CAAF-64DD-A1703DAA6598}"/>
              </a:ext>
            </a:extLst>
          </p:cNvPr>
          <p:cNvSpPr txBox="1"/>
          <p:nvPr/>
        </p:nvSpPr>
        <p:spPr>
          <a:xfrm>
            <a:off x="403120" y="825995"/>
            <a:ext cx="7443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train_history</a:t>
            </a:r>
            <a:endParaRPr lang="de-DE" sz="24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94CEB05-F485-4FE3-DBB3-4F268B0FEC8F}"/>
              </a:ext>
            </a:extLst>
          </p:cNvPr>
          <p:cNvSpPr txBox="1"/>
          <p:nvPr/>
        </p:nvSpPr>
        <p:spPr>
          <a:xfrm>
            <a:off x="403120" y="156651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Stage </a:t>
            </a:r>
            <a:r>
              <a:rPr lang="de-DE" dirty="0" err="1"/>
              <a:t>head</a:t>
            </a:r>
            <a:r>
              <a:rPr lang="de-DE" dirty="0"/>
              <a:t> Epochen 1- 4</a:t>
            </a:r>
          </a:p>
          <a:p>
            <a:r>
              <a:rPr lang="de-DE" dirty="0"/>
              <a:t>Nur der neue Klassifikationskopf wird trainiert, Backbone eingefroren.</a:t>
            </a:r>
          </a:p>
          <a:p>
            <a:endParaRPr lang="de-DE" dirty="0"/>
          </a:p>
          <a:p>
            <a:r>
              <a:rPr lang="de-DE" dirty="0" err="1"/>
              <a:t>train_acc</a:t>
            </a:r>
            <a:r>
              <a:rPr lang="de-DE" dirty="0"/>
              <a:t> von</a:t>
            </a:r>
            <a:r>
              <a:rPr lang="de-DE" b="1" dirty="0"/>
              <a:t> 0.54 auf 0.79</a:t>
            </a:r>
          </a:p>
          <a:p>
            <a:r>
              <a:rPr lang="de-DE" dirty="0" err="1"/>
              <a:t>val_acc</a:t>
            </a:r>
            <a:r>
              <a:rPr lang="de-DE" dirty="0"/>
              <a:t> von </a:t>
            </a:r>
            <a:r>
              <a:rPr lang="de-DE" b="1" dirty="0"/>
              <a:t>0.69 auf 0.72–0.73</a:t>
            </a:r>
          </a:p>
          <a:p>
            <a:endParaRPr lang="de-DE" dirty="0"/>
          </a:p>
          <a:p>
            <a:r>
              <a:rPr lang="de-DE" dirty="0"/>
              <a:t>Standard‑Transfer‑Learning‑Prozedur aus der Vorlesung: erst Kopf trainieren, um die neuen Klassen zu lernen.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AE793E0-D85E-A448-2E9A-7C682EE44CB9}"/>
              </a:ext>
            </a:extLst>
          </p:cNvPr>
          <p:cNvSpPr txBox="1"/>
          <p:nvPr/>
        </p:nvSpPr>
        <p:spPr>
          <a:xfrm>
            <a:off x="6931739" y="1705018"/>
            <a:ext cx="440485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Stage </a:t>
            </a:r>
            <a:r>
              <a:rPr lang="de-DE" dirty="0" err="1"/>
              <a:t>finetune</a:t>
            </a:r>
            <a:r>
              <a:rPr lang="de-DE" dirty="0"/>
              <a:t> Epochen 1- 4</a:t>
            </a:r>
          </a:p>
          <a:p>
            <a:r>
              <a:rPr lang="de-DE" dirty="0"/>
              <a:t>Danach werden alle Layer mit kleiner </a:t>
            </a:r>
            <a:r>
              <a:rPr lang="de-DE" dirty="0" err="1"/>
              <a:t>Lernrate</a:t>
            </a:r>
            <a:r>
              <a:rPr lang="de-DE" dirty="0"/>
              <a:t> feinjustiert</a:t>
            </a:r>
          </a:p>
          <a:p>
            <a:endParaRPr lang="de-DE" dirty="0"/>
          </a:p>
          <a:p>
            <a:r>
              <a:rPr lang="de-DE" dirty="0" err="1"/>
              <a:t>train_acc</a:t>
            </a:r>
            <a:r>
              <a:rPr lang="de-DE" dirty="0"/>
              <a:t>: von </a:t>
            </a:r>
            <a:r>
              <a:rPr lang="de-DE" b="1" dirty="0"/>
              <a:t>0.78 auf 0.996</a:t>
            </a:r>
          </a:p>
          <a:p>
            <a:r>
              <a:rPr lang="de-DE" dirty="0" err="1"/>
              <a:t>val_acc</a:t>
            </a:r>
            <a:r>
              <a:rPr lang="de-DE" dirty="0"/>
              <a:t>: von </a:t>
            </a:r>
            <a:r>
              <a:rPr lang="de-DE" b="1" dirty="0"/>
              <a:t>0.74 auf 0.766</a:t>
            </a:r>
          </a:p>
          <a:p>
            <a:r>
              <a:rPr lang="de-DE" dirty="0" err="1"/>
              <a:t>train_loss</a:t>
            </a:r>
            <a:r>
              <a:rPr lang="de-DE" dirty="0"/>
              <a:t>: fällt stark, </a:t>
            </a:r>
            <a:r>
              <a:rPr lang="de-DE" dirty="0" err="1"/>
              <a:t>val_loss</a:t>
            </a:r>
            <a:r>
              <a:rPr lang="de-DE" dirty="0"/>
              <a:t> fällt moderat.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CDE8C2C-5B3C-6EEE-8241-37416417557A}"/>
              </a:ext>
            </a:extLst>
          </p:cNvPr>
          <p:cNvSpPr txBox="1"/>
          <p:nvPr/>
        </p:nvSpPr>
        <p:spPr>
          <a:xfrm>
            <a:off x="3048000" y="51068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leichtes </a:t>
            </a:r>
            <a:r>
              <a:rPr lang="de-DE" b="1" dirty="0" err="1"/>
              <a:t>Overfitting</a:t>
            </a:r>
            <a:r>
              <a:rPr lang="de-DE" dirty="0"/>
              <a:t> ??? (Train &gt;&gt; Val)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9932FDCD-BC97-E0D0-D5FE-FCF9859F8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0561" y="4013342"/>
            <a:ext cx="2514818" cy="2674852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99ED8C25-8368-B42B-583F-CC6636163C7F}"/>
              </a:ext>
            </a:extLst>
          </p:cNvPr>
          <p:cNvSpPr txBox="1"/>
          <p:nvPr/>
        </p:nvSpPr>
        <p:spPr>
          <a:xfrm>
            <a:off x="3662514" y="3012571"/>
            <a:ext cx="2025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Zwischentest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0253D8E2-0E07-5FD3-BD7E-9AF7C774C2D4}"/>
              </a:ext>
            </a:extLst>
          </p:cNvPr>
          <p:cNvSpPr/>
          <p:nvPr/>
        </p:nvSpPr>
        <p:spPr>
          <a:xfrm>
            <a:off x="4267200" y="371933"/>
            <a:ext cx="1936955" cy="6292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330648A-3466-FE92-D868-C1A088910E4E}"/>
              </a:ext>
            </a:extLst>
          </p:cNvPr>
          <p:cNvSpPr txBox="1"/>
          <p:nvPr/>
        </p:nvSpPr>
        <p:spPr>
          <a:xfrm>
            <a:off x="4606412" y="430927"/>
            <a:ext cx="1774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</a:rPr>
              <a:t>Training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BA9C3C0B-7A30-E275-43F2-E4561AB3DA48}"/>
              </a:ext>
            </a:extLst>
          </p:cNvPr>
          <p:cNvSpPr/>
          <p:nvPr/>
        </p:nvSpPr>
        <p:spPr>
          <a:xfrm>
            <a:off x="10432025" y="6331974"/>
            <a:ext cx="1563329" cy="4326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D39CF87-2D65-FB45-9F44-E70A2E235569}"/>
              </a:ext>
            </a:extLst>
          </p:cNvPr>
          <p:cNvSpPr txBox="1"/>
          <p:nvPr/>
        </p:nvSpPr>
        <p:spPr>
          <a:xfrm>
            <a:off x="10432026" y="6363618"/>
            <a:ext cx="175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Tobias Daiger</a:t>
            </a:r>
          </a:p>
        </p:txBody>
      </p:sp>
    </p:spTree>
    <p:extLst>
      <p:ext uri="{BB962C8B-B14F-4D97-AF65-F5344CB8AC3E}">
        <p14:creationId xmlns:p14="http://schemas.microsoft.com/office/powerpoint/2010/main" val="56012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D38EA-E0B1-112E-807C-750906EEB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BD503699-8959-963E-64EC-99A904E4BCF6}"/>
              </a:ext>
            </a:extLst>
          </p:cNvPr>
          <p:cNvSpPr txBox="1"/>
          <p:nvPr/>
        </p:nvSpPr>
        <p:spPr>
          <a:xfrm>
            <a:off x="403121" y="302342"/>
            <a:ext cx="7443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Kurze Auswertung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C22DB3C-7F90-837E-E3F5-B2C65041BDC2}"/>
              </a:ext>
            </a:extLst>
          </p:cNvPr>
          <p:cNvSpPr txBox="1"/>
          <p:nvPr/>
        </p:nvSpPr>
        <p:spPr>
          <a:xfrm>
            <a:off x="403120" y="825995"/>
            <a:ext cx="7443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metrics_summary</a:t>
            </a:r>
            <a:endParaRPr lang="de-DE" sz="24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39661E5-800E-0FF7-F558-FD563827C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119" y="943616"/>
            <a:ext cx="2568163" cy="967824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4B095722-8C84-9A6F-BC21-93DDB0D34A72}"/>
              </a:ext>
            </a:extLst>
          </p:cNvPr>
          <p:cNvSpPr txBox="1"/>
          <p:nvPr/>
        </p:nvSpPr>
        <p:spPr>
          <a:xfrm>
            <a:off x="865239" y="1507690"/>
            <a:ext cx="821388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 err="1"/>
              <a:t>num_test_images</a:t>
            </a:r>
            <a:r>
              <a:rPr lang="de-DE" dirty="0"/>
              <a:t>: 60-&gt; 54 Bilder aus 10 Hunderassen + 6 Garo‑Bilder.</a:t>
            </a:r>
          </a:p>
          <a:p>
            <a:endParaRPr lang="de-DE" dirty="0"/>
          </a:p>
          <a:p>
            <a:r>
              <a:rPr lang="de-DE" b="1" dirty="0" err="1"/>
              <a:t>accuracy</a:t>
            </a:r>
            <a:r>
              <a:rPr lang="de-DE" dirty="0"/>
              <a:t>: 0.9167-&gt; Rund 92 % korrekte Vorhersagen im </a:t>
            </a:r>
            <a:r>
              <a:rPr lang="de-DE" dirty="0" err="1"/>
              <a:t>Testset</a:t>
            </a:r>
            <a:r>
              <a:rPr lang="de-DE" dirty="0"/>
              <a:t>.</a:t>
            </a:r>
          </a:p>
          <a:p>
            <a:endParaRPr lang="de-DE" dirty="0"/>
          </a:p>
          <a:p>
            <a:r>
              <a:rPr lang="de-DE" b="1" dirty="0"/>
              <a:t>macro_f1</a:t>
            </a:r>
            <a:r>
              <a:rPr lang="de-DE" dirty="0"/>
              <a:t>: 0.8011-&gt; Mittelwert der F1‑Scores über alle im </a:t>
            </a:r>
            <a:r>
              <a:rPr lang="de-DE" dirty="0" err="1"/>
              <a:t>Testset</a:t>
            </a:r>
            <a:r>
              <a:rPr lang="de-DE" dirty="0"/>
              <a:t> vorkommenden Klassen, unabhängig von deren Häufigkeit.-&gt; Das ist wichtig bei vielen Klassen, weil jede Klasse gleich gewichtet wird, egal ob 3 oder 6 Bilder.</a:t>
            </a:r>
          </a:p>
          <a:p>
            <a:endParaRPr lang="de-DE" dirty="0"/>
          </a:p>
          <a:p>
            <a:r>
              <a:rPr lang="de-DE" b="1" dirty="0"/>
              <a:t>weighted_f1</a:t>
            </a:r>
            <a:r>
              <a:rPr lang="de-DE" dirty="0"/>
              <a:t>: 0.9373-&gt; F1‑Score gewichtet nach der Anzahl Bilder pro Klasse.-&gt; Dieser Wert ist höher, weil die Klassen mit vielen Testbildern und sehr guter Leistung (z. B. </a:t>
            </a:r>
            <a:r>
              <a:rPr lang="de-DE" dirty="0" err="1"/>
              <a:t>Maltese_dog</a:t>
            </a:r>
            <a:r>
              <a:rPr lang="de-DE" dirty="0"/>
              <a:t> mit 6/6 korrekt) stärker zählen.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403B4F5-25EC-827C-1875-F960C8F5266C}"/>
              </a:ext>
            </a:extLst>
          </p:cNvPr>
          <p:cNvSpPr txBox="1"/>
          <p:nvPr/>
        </p:nvSpPr>
        <p:spPr>
          <a:xfrm>
            <a:off x="235972" y="5206028"/>
            <a:ext cx="548640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Macro‑F1-&gt; F1‑Score wird für jede Klasse einzeln berechnet</a:t>
            </a:r>
          </a:p>
          <a:p>
            <a:r>
              <a:rPr lang="de-DE" dirty="0"/>
              <a:t>Dann bildet man den Durchschnitt über alle Klassen, jede Klasse zählt gleich viel, egal ob sie 3 oder 200 Bilder hat.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8EC99CA-B35E-C8A7-A46C-398F4AD643EB}"/>
              </a:ext>
            </a:extLst>
          </p:cNvPr>
          <p:cNvSpPr txBox="1"/>
          <p:nvPr/>
        </p:nvSpPr>
        <p:spPr>
          <a:xfrm>
            <a:off x="6096000" y="5240288"/>
            <a:ext cx="55512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Weighted‑F1-&gt; F1‑Score pro Klasse wird mit der Anzahl ihrer Testbilder (support) gewichtet.</a:t>
            </a:r>
          </a:p>
          <a:p>
            <a:r>
              <a:rPr lang="de-DE" dirty="0"/>
              <a:t>Häufige Klassen mit vielen Testbildern zählen stärker in den Durchschnitt ein.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29F13C60-DFF5-A820-1BBB-51A6BD96A0AF}"/>
              </a:ext>
            </a:extLst>
          </p:cNvPr>
          <p:cNvSpPr/>
          <p:nvPr/>
        </p:nvSpPr>
        <p:spPr>
          <a:xfrm>
            <a:off x="4237701" y="314351"/>
            <a:ext cx="1936955" cy="62926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6027079-B038-C687-EEF5-79DA3ED09FF2}"/>
              </a:ext>
            </a:extLst>
          </p:cNvPr>
          <p:cNvSpPr txBox="1"/>
          <p:nvPr/>
        </p:nvSpPr>
        <p:spPr>
          <a:xfrm>
            <a:off x="4576913" y="373345"/>
            <a:ext cx="1774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</a:rPr>
              <a:t>Testing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AF8AC023-6029-E534-6C2E-14031D8D6C0F}"/>
              </a:ext>
            </a:extLst>
          </p:cNvPr>
          <p:cNvSpPr/>
          <p:nvPr/>
        </p:nvSpPr>
        <p:spPr>
          <a:xfrm>
            <a:off x="10432025" y="6331974"/>
            <a:ext cx="1563329" cy="4326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91BFFAF-FA04-7764-080D-401232328916}"/>
              </a:ext>
            </a:extLst>
          </p:cNvPr>
          <p:cNvSpPr txBox="1"/>
          <p:nvPr/>
        </p:nvSpPr>
        <p:spPr>
          <a:xfrm>
            <a:off x="10432026" y="6363618"/>
            <a:ext cx="175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Tobias Daiger</a:t>
            </a:r>
          </a:p>
        </p:txBody>
      </p:sp>
    </p:spTree>
    <p:extLst>
      <p:ext uri="{BB962C8B-B14F-4D97-AF65-F5344CB8AC3E}">
        <p14:creationId xmlns:p14="http://schemas.microsoft.com/office/powerpoint/2010/main" val="3642024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19A50-4E65-7C17-583F-C9D51653B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9B44EF2E-B863-16AA-3DAA-FCA6A7F7ADE2}"/>
              </a:ext>
            </a:extLst>
          </p:cNvPr>
          <p:cNvSpPr txBox="1"/>
          <p:nvPr/>
        </p:nvSpPr>
        <p:spPr>
          <a:xfrm>
            <a:off x="403121" y="302342"/>
            <a:ext cx="7443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Kurze Auswertung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7C70B81-3C54-EEED-2DFB-118A67C0CA5E}"/>
              </a:ext>
            </a:extLst>
          </p:cNvPr>
          <p:cNvSpPr txBox="1"/>
          <p:nvPr/>
        </p:nvSpPr>
        <p:spPr>
          <a:xfrm>
            <a:off x="403120" y="825995"/>
            <a:ext cx="7443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classification_report</a:t>
            </a:r>
            <a:endParaRPr lang="de-DE" sz="24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30DFF9D-C944-960C-31A4-51FADEF26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338" y="202512"/>
            <a:ext cx="2781541" cy="3375953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18C15877-55C7-EEF0-348C-B1C92DDAEFF9}"/>
              </a:ext>
            </a:extLst>
          </p:cNvPr>
          <p:cNvSpPr txBox="1"/>
          <p:nvPr/>
        </p:nvSpPr>
        <p:spPr>
          <a:xfrm>
            <a:off x="914400" y="1890489"/>
            <a:ext cx="65482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Klassen mit Testbildern haben support &gt; 0 und sinnvolle Werte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17F95391-AB3C-509A-0875-DB5BB37B4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1198" y="3842249"/>
            <a:ext cx="2293819" cy="1729890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C9483D22-0AC4-279E-982A-6A458C40E40C}"/>
              </a:ext>
            </a:extLst>
          </p:cNvPr>
          <p:cNvSpPr txBox="1"/>
          <p:nvPr/>
        </p:nvSpPr>
        <p:spPr>
          <a:xfrm>
            <a:off x="914400" y="2465804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accuracy</a:t>
            </a:r>
            <a:r>
              <a:rPr lang="de-DE" dirty="0"/>
              <a:t>: 0.9167 -&gt; deckt sich mit </a:t>
            </a:r>
            <a:r>
              <a:rPr lang="de-DE" dirty="0" err="1"/>
              <a:t>metrics_small</a:t>
            </a:r>
            <a:r>
              <a:rPr lang="de-DE" dirty="0"/>
              <a:t>.</a:t>
            </a:r>
          </a:p>
          <a:p>
            <a:r>
              <a:rPr lang="de-DE" dirty="0" err="1"/>
              <a:t>macro</a:t>
            </a:r>
            <a:r>
              <a:rPr lang="de-DE" dirty="0"/>
              <a:t> </a:t>
            </a:r>
            <a:r>
              <a:rPr lang="de-DE" dirty="0" err="1"/>
              <a:t>avg</a:t>
            </a:r>
            <a:r>
              <a:rPr lang="de-DE" dirty="0"/>
              <a:t>: Precision = 0.148, Recall = 0.135, F1 = 0.139</a:t>
            </a:r>
          </a:p>
          <a:p>
            <a:r>
              <a:rPr lang="de-DE" dirty="0"/>
              <a:t> </a:t>
            </a:r>
          </a:p>
          <a:p>
            <a:r>
              <a:rPr lang="de-DE" dirty="0"/>
              <a:t>Das ist über alle 121 Klassen gemittelt, inklusive der 100+ Klassen ohne Testbilder (support=0 -&gt; F1=0) </a:t>
            </a:r>
          </a:p>
          <a:p>
            <a:endParaRPr lang="de-DE" dirty="0"/>
          </a:p>
          <a:p>
            <a:r>
              <a:rPr lang="de-DE" dirty="0"/>
              <a:t>Deshalb ist dieser Wert deutlich niedriger und für das  kleines </a:t>
            </a:r>
            <a:r>
              <a:rPr lang="de-DE" dirty="0" err="1"/>
              <a:t>Testset</a:t>
            </a:r>
            <a:r>
              <a:rPr lang="de-DE" dirty="0"/>
              <a:t> nicht interpretationsrelevant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0EAE3C7-F445-9C66-CF53-0189C4EEA64A}"/>
              </a:ext>
            </a:extLst>
          </p:cNvPr>
          <p:cNvSpPr txBox="1"/>
          <p:nvPr/>
        </p:nvSpPr>
        <p:spPr>
          <a:xfrm>
            <a:off x="646982" y="4980111"/>
            <a:ext cx="767110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Pro Klasse sehen wir: alle Hundearten im </a:t>
            </a:r>
            <a:r>
              <a:rPr lang="de-DE" dirty="0" err="1"/>
              <a:t>Testset</a:t>
            </a:r>
            <a:r>
              <a:rPr lang="de-DE" dirty="0"/>
              <a:t> mit 3 Bildern werden überwiegend perfekt oder sehr gut erkannt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Ausnahmen sind Collie, Appenzeller, </a:t>
            </a:r>
            <a:r>
              <a:rPr lang="de-DE" dirty="0" err="1"/>
              <a:t>Basenji</a:t>
            </a:r>
            <a:r>
              <a:rPr lang="de-DE" dirty="0"/>
              <a:t> und </a:t>
            </a:r>
            <a:r>
              <a:rPr lang="de-DE" dirty="0" err="1"/>
              <a:t>Samoyed</a:t>
            </a:r>
            <a:r>
              <a:rPr lang="de-DE" dirty="0"/>
              <a:t>, wo jeweils eine Verwechslung mit sehr ähnlichen Rassen auftritt.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Garo erreicht im </a:t>
            </a:r>
            <a:r>
              <a:rPr lang="de-DE" dirty="0" err="1"/>
              <a:t>Testset</a:t>
            </a:r>
            <a:r>
              <a:rPr lang="de-DE" dirty="0"/>
              <a:t> F1=1.0.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47C6681-9282-F11B-B964-8AEDFB5F056C}"/>
              </a:ext>
            </a:extLst>
          </p:cNvPr>
          <p:cNvSpPr txBox="1"/>
          <p:nvPr/>
        </p:nvSpPr>
        <p:spPr>
          <a:xfrm>
            <a:off x="4302107" y="614502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 Von den Bildern, die als diese Klasse vorhergesagt wurden: wie viele sind wirklich richtig?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E78D0BEF-F523-08DA-B823-63646359E3EF}"/>
              </a:ext>
            </a:extLst>
          </p:cNvPr>
          <p:cNvSpPr/>
          <p:nvPr/>
        </p:nvSpPr>
        <p:spPr>
          <a:xfrm>
            <a:off x="4301611" y="330813"/>
            <a:ext cx="1936955" cy="62926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F6976604-5EEC-113C-7D15-2D284052831A}"/>
              </a:ext>
            </a:extLst>
          </p:cNvPr>
          <p:cNvSpPr txBox="1"/>
          <p:nvPr/>
        </p:nvSpPr>
        <p:spPr>
          <a:xfrm>
            <a:off x="4640823" y="389807"/>
            <a:ext cx="1774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</a:rPr>
              <a:t>Testing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D4CB63BF-7B50-EC24-1298-DA8373CFDF4B}"/>
              </a:ext>
            </a:extLst>
          </p:cNvPr>
          <p:cNvSpPr/>
          <p:nvPr/>
        </p:nvSpPr>
        <p:spPr>
          <a:xfrm>
            <a:off x="10432025" y="6254512"/>
            <a:ext cx="1563329" cy="4326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CE3EF54-60CB-899C-EAEF-6CAAD840621A}"/>
              </a:ext>
            </a:extLst>
          </p:cNvPr>
          <p:cNvSpPr txBox="1"/>
          <p:nvPr/>
        </p:nvSpPr>
        <p:spPr>
          <a:xfrm>
            <a:off x="10432026" y="6286156"/>
            <a:ext cx="175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Tobias Daiger</a:t>
            </a:r>
          </a:p>
        </p:txBody>
      </p:sp>
    </p:spTree>
    <p:extLst>
      <p:ext uri="{BB962C8B-B14F-4D97-AF65-F5344CB8AC3E}">
        <p14:creationId xmlns:p14="http://schemas.microsoft.com/office/powerpoint/2010/main" val="1431255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161FD-084F-3AFD-9238-B794AA530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95020592-DEFE-9B03-A0A2-66E4BADABBF2}"/>
              </a:ext>
            </a:extLst>
          </p:cNvPr>
          <p:cNvSpPr txBox="1"/>
          <p:nvPr/>
        </p:nvSpPr>
        <p:spPr>
          <a:xfrm>
            <a:off x="403121" y="302342"/>
            <a:ext cx="7443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Kurze Auswertung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08EA04B-DAA5-B17E-A8D1-FD93672AA64B}"/>
              </a:ext>
            </a:extLst>
          </p:cNvPr>
          <p:cNvSpPr txBox="1"/>
          <p:nvPr/>
        </p:nvSpPr>
        <p:spPr>
          <a:xfrm>
            <a:off x="403120" y="825995"/>
            <a:ext cx="7443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classification_report</a:t>
            </a:r>
            <a:endParaRPr lang="de-DE" sz="24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D105496-FB6C-CF7D-0C6A-EF57D9774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338" y="202512"/>
            <a:ext cx="2781541" cy="3375953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FB301CB1-8B4C-20A8-F6B6-B5D844829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1198" y="3842249"/>
            <a:ext cx="2293819" cy="1729890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B8CBAD1E-D4CA-B1A7-82E4-EF8122F4A5B8}"/>
              </a:ext>
            </a:extLst>
          </p:cNvPr>
          <p:cNvSpPr txBox="1"/>
          <p:nvPr/>
        </p:nvSpPr>
        <p:spPr>
          <a:xfrm>
            <a:off x="521110" y="1432581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accuracy</a:t>
            </a:r>
            <a:r>
              <a:rPr lang="de-DE" dirty="0"/>
              <a:t>: 0.9167 -&gt; deckt sich mit </a:t>
            </a:r>
            <a:r>
              <a:rPr lang="de-DE" dirty="0" err="1"/>
              <a:t>metrics_small</a:t>
            </a:r>
            <a:r>
              <a:rPr lang="de-DE" dirty="0"/>
              <a:t>.</a:t>
            </a:r>
          </a:p>
          <a:p>
            <a:r>
              <a:rPr lang="de-DE" dirty="0" err="1"/>
              <a:t>macro</a:t>
            </a:r>
            <a:r>
              <a:rPr lang="de-DE" dirty="0"/>
              <a:t> </a:t>
            </a:r>
            <a:r>
              <a:rPr lang="de-DE" dirty="0" err="1"/>
              <a:t>avg</a:t>
            </a:r>
            <a:r>
              <a:rPr lang="de-DE" dirty="0"/>
              <a:t>: Precision = 0.148, Recall = 0.135, F1 = 0.139</a:t>
            </a:r>
          </a:p>
          <a:p>
            <a:r>
              <a:rPr lang="de-DE" dirty="0"/>
              <a:t> </a:t>
            </a:r>
          </a:p>
          <a:p>
            <a:r>
              <a:rPr lang="de-DE" dirty="0"/>
              <a:t>Precision? Von den Bildern, die als diese Klasse vorhergesagt wurden: wie viele sind wirklich richtig?</a:t>
            </a:r>
          </a:p>
          <a:p>
            <a:endParaRPr lang="de-DE" dirty="0"/>
          </a:p>
          <a:p>
            <a:r>
              <a:rPr lang="de-DE" dirty="0"/>
              <a:t>Recall: Von den Bildern, die zu dieser Klasse gehören: wie viele wurden gefunden?</a:t>
            </a:r>
          </a:p>
          <a:p>
            <a:endParaRPr lang="de-DE" dirty="0"/>
          </a:p>
          <a:p>
            <a:r>
              <a:rPr lang="de-DE" dirty="0"/>
              <a:t>F1: Harmonisches Mittel aus Precision und Recall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F817CF95-2EFE-BA33-F870-0FB1C09AA06D}"/>
              </a:ext>
            </a:extLst>
          </p:cNvPr>
          <p:cNvSpPr/>
          <p:nvPr/>
        </p:nvSpPr>
        <p:spPr>
          <a:xfrm>
            <a:off x="4301611" y="330813"/>
            <a:ext cx="1936955" cy="62926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6FEE2DA-113E-D544-34DD-C242AC4D04EB}"/>
              </a:ext>
            </a:extLst>
          </p:cNvPr>
          <p:cNvSpPr txBox="1"/>
          <p:nvPr/>
        </p:nvSpPr>
        <p:spPr>
          <a:xfrm>
            <a:off x="4640823" y="389807"/>
            <a:ext cx="1774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</a:rPr>
              <a:t>Testing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1A2B7C90-FA67-D09D-2D14-7E47CADBD160}"/>
              </a:ext>
            </a:extLst>
          </p:cNvPr>
          <p:cNvSpPr/>
          <p:nvPr/>
        </p:nvSpPr>
        <p:spPr>
          <a:xfrm>
            <a:off x="10432025" y="6331974"/>
            <a:ext cx="1563329" cy="4326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434E68D-3015-1AD4-ACE3-C44732F38AE0}"/>
              </a:ext>
            </a:extLst>
          </p:cNvPr>
          <p:cNvSpPr txBox="1"/>
          <p:nvPr/>
        </p:nvSpPr>
        <p:spPr>
          <a:xfrm>
            <a:off x="10432026" y="6363618"/>
            <a:ext cx="175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Tobias Daiger</a:t>
            </a:r>
          </a:p>
        </p:txBody>
      </p:sp>
    </p:spTree>
    <p:extLst>
      <p:ext uri="{BB962C8B-B14F-4D97-AF65-F5344CB8AC3E}">
        <p14:creationId xmlns:p14="http://schemas.microsoft.com/office/powerpoint/2010/main" val="754278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E0F69-E29A-5835-213B-DACDF1B9F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279E2AB3-375A-5EF5-1F1C-8C484857D728}"/>
              </a:ext>
            </a:extLst>
          </p:cNvPr>
          <p:cNvSpPr txBox="1"/>
          <p:nvPr/>
        </p:nvSpPr>
        <p:spPr>
          <a:xfrm>
            <a:off x="403121" y="302342"/>
            <a:ext cx="7443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Kurze Auswertung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5F4892E-9C58-D97C-9DED-87EE91C0A3DB}"/>
              </a:ext>
            </a:extLst>
          </p:cNvPr>
          <p:cNvSpPr txBox="1"/>
          <p:nvPr/>
        </p:nvSpPr>
        <p:spPr>
          <a:xfrm>
            <a:off x="403120" y="825995"/>
            <a:ext cx="7443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confusion_matrix_small</a:t>
            </a:r>
            <a:endParaRPr lang="de-DE" sz="24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D385AAA-015B-7998-6431-0CCE97139591}"/>
              </a:ext>
            </a:extLst>
          </p:cNvPr>
          <p:cNvSpPr txBox="1"/>
          <p:nvPr/>
        </p:nvSpPr>
        <p:spPr>
          <a:xfrm>
            <a:off x="403119" y="1564628"/>
            <a:ext cx="68825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Diese Matrix zeigt nur die 21 Klassen die im kleinen </a:t>
            </a:r>
            <a:r>
              <a:rPr lang="de-DE" dirty="0" err="1"/>
              <a:t>Testset</a:t>
            </a:r>
            <a:r>
              <a:rPr lang="de-DE" dirty="0"/>
              <a:t> vorkommen und wie sie jeweils vorhergesagt wurden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5AAC766-C15D-C59B-54AC-F2BA7C5C6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1680" y="302342"/>
            <a:ext cx="2758679" cy="403895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3CA2CFEE-0BE2-61C4-8A56-05477A86F9AB}"/>
              </a:ext>
            </a:extLst>
          </p:cNvPr>
          <p:cNvSpPr txBox="1"/>
          <p:nvPr/>
        </p:nvSpPr>
        <p:spPr>
          <a:xfrm>
            <a:off x="403119" y="4860325"/>
            <a:ext cx="79936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Verwechslungen treten ausschließlich zwischen visuell nahe verwandten Rassen auf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(Collie vs. Shetland </a:t>
            </a:r>
            <a:r>
              <a:rPr lang="de-DE" dirty="0" err="1"/>
              <a:t>Sheepdog</a:t>
            </a:r>
            <a:r>
              <a:rPr lang="de-DE" dirty="0"/>
              <a:t>, Appenzeller vs. Entlebucher, </a:t>
            </a:r>
            <a:r>
              <a:rPr lang="de-DE" dirty="0" err="1"/>
              <a:t>Basenji</a:t>
            </a:r>
            <a:r>
              <a:rPr lang="de-DE" dirty="0"/>
              <a:t> vs. Pembroke, </a:t>
            </a:r>
            <a:r>
              <a:rPr lang="de-DE" dirty="0" err="1"/>
              <a:t>Samoyed</a:t>
            </a:r>
            <a:r>
              <a:rPr lang="de-DE" dirty="0"/>
              <a:t> vs. Maltese).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Garo wird gar nicht mit anderen Klassen verwechselt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A91FEA3-0D54-4D58-480B-E2A2EB0F11C4}"/>
              </a:ext>
            </a:extLst>
          </p:cNvPr>
          <p:cNvSpPr txBox="1"/>
          <p:nvPr/>
        </p:nvSpPr>
        <p:spPr>
          <a:xfrm>
            <a:off x="540773" y="27826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Zeile </a:t>
            </a:r>
            <a:r>
              <a:rPr lang="de-DE" dirty="0" err="1"/>
              <a:t>collie</a:t>
            </a:r>
            <a:r>
              <a:rPr lang="de-DE" dirty="0"/>
              <a:t> (n02106030-collie): [0,0,…,2,1,0,…] -&gt; 2 Collie‑Bilder wurden als </a:t>
            </a:r>
            <a:r>
              <a:rPr lang="de-DE" dirty="0" err="1"/>
              <a:t>Shetland_sheepdog</a:t>
            </a:r>
            <a:r>
              <a:rPr lang="de-DE" dirty="0"/>
              <a:t> vorhergesagt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0012CF54-666B-450F-A915-6F5BCE38F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371" y="1003245"/>
            <a:ext cx="1539373" cy="3558848"/>
          </a:xfrm>
          <a:prstGeom prst="rect">
            <a:avLst/>
          </a:prstGeom>
        </p:spPr>
      </p:pic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52E58DA4-3469-C049-952F-894BD6DB3AD8}"/>
              </a:ext>
            </a:extLst>
          </p:cNvPr>
          <p:cNvSpPr/>
          <p:nvPr/>
        </p:nvSpPr>
        <p:spPr>
          <a:xfrm>
            <a:off x="4301611" y="330813"/>
            <a:ext cx="1936955" cy="62926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49C0A400-F2F3-421B-23D1-55B495879B79}"/>
              </a:ext>
            </a:extLst>
          </p:cNvPr>
          <p:cNvSpPr txBox="1"/>
          <p:nvPr/>
        </p:nvSpPr>
        <p:spPr>
          <a:xfrm>
            <a:off x="4640823" y="389807"/>
            <a:ext cx="1774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</a:rPr>
              <a:t>Testing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5DB7AF7A-ADED-E351-DB36-199BC6FE77E4}"/>
              </a:ext>
            </a:extLst>
          </p:cNvPr>
          <p:cNvSpPr/>
          <p:nvPr/>
        </p:nvSpPr>
        <p:spPr>
          <a:xfrm>
            <a:off x="10432025" y="6331974"/>
            <a:ext cx="1563329" cy="4326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5D29C90-E84A-5803-AFF0-FDAD69F8B38D}"/>
              </a:ext>
            </a:extLst>
          </p:cNvPr>
          <p:cNvSpPr txBox="1"/>
          <p:nvPr/>
        </p:nvSpPr>
        <p:spPr>
          <a:xfrm>
            <a:off x="10432026" y="6363618"/>
            <a:ext cx="175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Tobias Daiger</a:t>
            </a:r>
          </a:p>
        </p:txBody>
      </p:sp>
    </p:spTree>
    <p:extLst>
      <p:ext uri="{BB962C8B-B14F-4D97-AF65-F5344CB8AC3E}">
        <p14:creationId xmlns:p14="http://schemas.microsoft.com/office/powerpoint/2010/main" val="1185790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873466B6-54B6-A4F6-D1C0-E1BCAA2EC9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760" y="0"/>
            <a:ext cx="8158480" cy="6798733"/>
          </a:xfrm>
          <a:prstGeom prst="rect">
            <a:avLst/>
          </a:prstGeom>
        </p:spPr>
      </p:pic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EA3861CE-3B26-57B9-3009-0000F402E228}"/>
              </a:ext>
            </a:extLst>
          </p:cNvPr>
          <p:cNvSpPr/>
          <p:nvPr/>
        </p:nvSpPr>
        <p:spPr>
          <a:xfrm>
            <a:off x="10432025" y="6331974"/>
            <a:ext cx="1563329" cy="4326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18AEDBF-9A76-F269-D705-2D14A1CE7E76}"/>
              </a:ext>
            </a:extLst>
          </p:cNvPr>
          <p:cNvSpPr txBox="1"/>
          <p:nvPr/>
        </p:nvSpPr>
        <p:spPr>
          <a:xfrm>
            <a:off x="10432026" y="6363618"/>
            <a:ext cx="175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Tobias Daiger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30EFD13-C893-00A0-D256-9C02BDD0997C}"/>
              </a:ext>
            </a:extLst>
          </p:cNvPr>
          <p:cNvSpPr txBox="1"/>
          <p:nvPr/>
        </p:nvSpPr>
        <p:spPr>
          <a:xfrm>
            <a:off x="286281" y="157315"/>
            <a:ext cx="17304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confusion_matrix_small</a:t>
            </a:r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2255962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61A0C-204B-F467-65C7-2E831EB02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0C206B7C-55C3-8E9E-1A0A-6747D09708C5}"/>
              </a:ext>
            </a:extLst>
          </p:cNvPr>
          <p:cNvSpPr txBox="1"/>
          <p:nvPr/>
        </p:nvSpPr>
        <p:spPr>
          <a:xfrm>
            <a:off x="403121" y="302342"/>
            <a:ext cx="7443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Kurze Auswertung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3FAC683-1140-7284-BA2D-43BF0C13ACF7}"/>
              </a:ext>
            </a:extLst>
          </p:cNvPr>
          <p:cNvSpPr txBox="1"/>
          <p:nvPr/>
        </p:nvSpPr>
        <p:spPr>
          <a:xfrm>
            <a:off x="403120" y="825995"/>
            <a:ext cx="7443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confusion_matrix_small</a:t>
            </a:r>
            <a:endParaRPr lang="de-DE" sz="24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CC6819D-3A10-430D-9041-5F987DB1D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7652" y="1554480"/>
            <a:ext cx="4001508" cy="302514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30A26F1-EE41-CE9F-7974-C875F9E52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102" y="1554480"/>
            <a:ext cx="2857500" cy="38100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D3F119FA-F92B-798D-6674-A745BF6E9AA3}"/>
              </a:ext>
            </a:extLst>
          </p:cNvPr>
          <p:cNvSpPr txBox="1"/>
          <p:nvPr/>
        </p:nvSpPr>
        <p:spPr>
          <a:xfrm>
            <a:off x="7765353" y="4816095"/>
            <a:ext cx="3293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Shetland </a:t>
            </a:r>
            <a:r>
              <a:rPr lang="de-DE" dirty="0" err="1"/>
              <a:t>sheepdog</a:t>
            </a: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2317496-D882-9449-9BDC-2AD591223BDF}"/>
              </a:ext>
            </a:extLst>
          </p:cNvPr>
          <p:cNvSpPr txBox="1"/>
          <p:nvPr/>
        </p:nvSpPr>
        <p:spPr>
          <a:xfrm>
            <a:off x="1684101" y="5631300"/>
            <a:ext cx="3293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Collie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ED59D27B-00EF-B6B9-EF0A-96E292C37A8D}"/>
              </a:ext>
            </a:extLst>
          </p:cNvPr>
          <p:cNvSpPr/>
          <p:nvPr/>
        </p:nvSpPr>
        <p:spPr>
          <a:xfrm>
            <a:off x="4301611" y="330813"/>
            <a:ext cx="1936955" cy="62926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7E6ABC4-4168-7CE7-8CCA-0CEAF5026D7D}"/>
              </a:ext>
            </a:extLst>
          </p:cNvPr>
          <p:cNvSpPr txBox="1"/>
          <p:nvPr/>
        </p:nvSpPr>
        <p:spPr>
          <a:xfrm>
            <a:off x="4640823" y="389807"/>
            <a:ext cx="1774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</a:rPr>
              <a:t>Testing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7BAD8459-0A0B-4644-26B6-1E7CE7CC35A8}"/>
              </a:ext>
            </a:extLst>
          </p:cNvPr>
          <p:cNvSpPr/>
          <p:nvPr/>
        </p:nvSpPr>
        <p:spPr>
          <a:xfrm>
            <a:off x="10432025" y="6331974"/>
            <a:ext cx="1563329" cy="4326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9DE3808-5A14-986F-69D3-53C8E3257A64}"/>
              </a:ext>
            </a:extLst>
          </p:cNvPr>
          <p:cNvSpPr txBox="1"/>
          <p:nvPr/>
        </p:nvSpPr>
        <p:spPr>
          <a:xfrm>
            <a:off x="10432026" y="6363618"/>
            <a:ext cx="175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Tobias Daiger</a:t>
            </a:r>
          </a:p>
        </p:txBody>
      </p:sp>
    </p:spTree>
    <p:extLst>
      <p:ext uri="{BB962C8B-B14F-4D97-AF65-F5344CB8AC3E}">
        <p14:creationId xmlns:p14="http://schemas.microsoft.com/office/powerpoint/2010/main" val="930149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831FF-6E06-0538-BD9B-D311B1CE6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F0F8AB2-9E63-5D52-6E9A-1E1CD018E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40" y="1188320"/>
            <a:ext cx="4762500" cy="357187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D7B69D5-7422-EA29-918D-CCABFD860D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847" y="1188320"/>
            <a:ext cx="3790950" cy="504825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EA350B8D-D4BB-9AFF-552B-DFEF0A1FD48D}"/>
              </a:ext>
            </a:extLst>
          </p:cNvPr>
          <p:cNvSpPr txBox="1"/>
          <p:nvPr/>
        </p:nvSpPr>
        <p:spPr>
          <a:xfrm>
            <a:off x="8020971" y="6409246"/>
            <a:ext cx="3293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EntleBucher</a:t>
            </a: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10B3259-4B83-1874-FA06-8290FCFC4B83}"/>
              </a:ext>
            </a:extLst>
          </p:cNvPr>
          <p:cNvSpPr txBox="1"/>
          <p:nvPr/>
        </p:nvSpPr>
        <p:spPr>
          <a:xfrm>
            <a:off x="1762738" y="5041365"/>
            <a:ext cx="3293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Appenzeller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3C60246F-A52F-976D-64B5-EC2067068E25}"/>
              </a:ext>
            </a:extLst>
          </p:cNvPr>
          <p:cNvSpPr/>
          <p:nvPr/>
        </p:nvSpPr>
        <p:spPr>
          <a:xfrm>
            <a:off x="4301611" y="330813"/>
            <a:ext cx="1936955" cy="62926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33070F6-C8B2-7A5A-384B-E297120A3A9E}"/>
              </a:ext>
            </a:extLst>
          </p:cNvPr>
          <p:cNvSpPr txBox="1"/>
          <p:nvPr/>
        </p:nvSpPr>
        <p:spPr>
          <a:xfrm>
            <a:off x="4640823" y="389807"/>
            <a:ext cx="1774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</a:rPr>
              <a:t>Testing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FC718E7D-D760-6945-33C5-07123BB63CF0}"/>
              </a:ext>
            </a:extLst>
          </p:cNvPr>
          <p:cNvSpPr/>
          <p:nvPr/>
        </p:nvSpPr>
        <p:spPr>
          <a:xfrm>
            <a:off x="10432025" y="6331974"/>
            <a:ext cx="1563329" cy="4326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5F6AA3F-B3F7-A8E2-F9B9-30E6E2566B79}"/>
              </a:ext>
            </a:extLst>
          </p:cNvPr>
          <p:cNvSpPr txBox="1"/>
          <p:nvPr/>
        </p:nvSpPr>
        <p:spPr>
          <a:xfrm>
            <a:off x="10432026" y="6363618"/>
            <a:ext cx="175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Tobias Daiger</a:t>
            </a:r>
          </a:p>
        </p:txBody>
      </p:sp>
    </p:spTree>
    <p:extLst>
      <p:ext uri="{BB962C8B-B14F-4D97-AF65-F5344CB8AC3E}">
        <p14:creationId xmlns:p14="http://schemas.microsoft.com/office/powerpoint/2010/main" val="3984335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055C5-3F4C-5D4D-9A2B-A82354B87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E67B456-BA30-B1DD-D4DE-3D0473C8BB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904" y="1761050"/>
            <a:ext cx="4762500" cy="357187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A3CBCBC-B0DF-401F-4343-1994688513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62" y="1761050"/>
            <a:ext cx="4762500" cy="3571875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9A9045D-9EC2-CB46-623C-BC01A8F7EA9E}"/>
              </a:ext>
            </a:extLst>
          </p:cNvPr>
          <p:cNvSpPr txBox="1"/>
          <p:nvPr/>
        </p:nvSpPr>
        <p:spPr>
          <a:xfrm>
            <a:off x="7808655" y="5542811"/>
            <a:ext cx="3293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Pembroke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D8079A4-5CB8-3952-E89B-8E16E2EE0CA5}"/>
              </a:ext>
            </a:extLst>
          </p:cNvPr>
          <p:cNvSpPr txBox="1"/>
          <p:nvPr/>
        </p:nvSpPr>
        <p:spPr>
          <a:xfrm>
            <a:off x="1457937" y="5542811"/>
            <a:ext cx="3293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Basenji</a:t>
            </a:r>
            <a:endParaRPr lang="de-DE" dirty="0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65583149-71BB-675C-C768-0076C2CD8977}"/>
              </a:ext>
            </a:extLst>
          </p:cNvPr>
          <p:cNvSpPr/>
          <p:nvPr/>
        </p:nvSpPr>
        <p:spPr>
          <a:xfrm>
            <a:off x="4301611" y="330813"/>
            <a:ext cx="1936955" cy="62926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3893C1A-6C84-93F4-6BBF-98302923FD32}"/>
              </a:ext>
            </a:extLst>
          </p:cNvPr>
          <p:cNvSpPr txBox="1"/>
          <p:nvPr/>
        </p:nvSpPr>
        <p:spPr>
          <a:xfrm>
            <a:off x="4640823" y="389807"/>
            <a:ext cx="1774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</a:rPr>
              <a:t>Testing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B5513ADF-AF4C-1262-938D-CBD320179587}"/>
              </a:ext>
            </a:extLst>
          </p:cNvPr>
          <p:cNvSpPr/>
          <p:nvPr/>
        </p:nvSpPr>
        <p:spPr>
          <a:xfrm>
            <a:off x="10432025" y="6331974"/>
            <a:ext cx="1563329" cy="4326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77068B1-A6AE-B490-B297-E85B80D86973}"/>
              </a:ext>
            </a:extLst>
          </p:cNvPr>
          <p:cNvSpPr txBox="1"/>
          <p:nvPr/>
        </p:nvSpPr>
        <p:spPr>
          <a:xfrm>
            <a:off x="10432026" y="6363618"/>
            <a:ext cx="175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Tobias Daiger</a:t>
            </a:r>
          </a:p>
        </p:txBody>
      </p:sp>
    </p:spTree>
    <p:extLst>
      <p:ext uri="{BB962C8B-B14F-4D97-AF65-F5344CB8AC3E}">
        <p14:creationId xmlns:p14="http://schemas.microsoft.com/office/powerpoint/2010/main" val="2097350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8AFE060-431C-60B0-B41D-7CC7C7170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0"/>
            <a:ext cx="8229600" cy="6858000"/>
          </a:xfrm>
          <a:prstGeom prst="rect">
            <a:avLst/>
          </a:prstGeom>
        </p:spPr>
      </p:pic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738F1464-4346-CF0A-1582-FB1CA1D2C0A5}"/>
              </a:ext>
            </a:extLst>
          </p:cNvPr>
          <p:cNvSpPr/>
          <p:nvPr/>
        </p:nvSpPr>
        <p:spPr>
          <a:xfrm>
            <a:off x="10432025" y="6331974"/>
            <a:ext cx="1563329" cy="4326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7FCC06F-0FE0-5FEE-B761-BA5AAD06F7E7}"/>
              </a:ext>
            </a:extLst>
          </p:cNvPr>
          <p:cNvSpPr txBox="1"/>
          <p:nvPr/>
        </p:nvSpPr>
        <p:spPr>
          <a:xfrm>
            <a:off x="10432026" y="6363618"/>
            <a:ext cx="175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Tobias Daiger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56DA11F-859E-0F58-507F-65214AF9CF3A}"/>
              </a:ext>
            </a:extLst>
          </p:cNvPr>
          <p:cNvSpPr txBox="1"/>
          <p:nvPr/>
        </p:nvSpPr>
        <p:spPr>
          <a:xfrm>
            <a:off x="294968" y="1691148"/>
            <a:ext cx="12978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Anderes Netz nehmen</a:t>
            </a:r>
          </a:p>
        </p:txBody>
      </p:sp>
    </p:spTree>
    <p:extLst>
      <p:ext uri="{BB962C8B-B14F-4D97-AF65-F5344CB8AC3E}">
        <p14:creationId xmlns:p14="http://schemas.microsoft.com/office/powerpoint/2010/main" val="1379031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798</Words>
  <Application>Microsoft Office PowerPoint</Application>
  <PresentationFormat>Breitbild</PresentationFormat>
  <Paragraphs>112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Tobias D.</dc:creator>
  <cp:lastModifiedBy>Tobias D.</cp:lastModifiedBy>
  <cp:revision>25</cp:revision>
  <dcterms:created xsi:type="dcterms:W3CDTF">2026-07-08T16:33:12Z</dcterms:created>
  <dcterms:modified xsi:type="dcterms:W3CDTF">2026-07-26T17:43:43Z</dcterms:modified>
</cp:coreProperties>
</file>