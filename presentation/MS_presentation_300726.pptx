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62" r:id="rId4"/>
    <p:sldId id="266" r:id="rId5"/>
    <p:sldId id="260" r:id="rId6"/>
    <p:sldId id="261" r:id="rId7"/>
    <p:sldId id="258" r:id="rId8"/>
    <p:sldId id="259" r:id="rId9"/>
    <p:sldId id="267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11C5F1-4B78-F559-9ADE-A5F176B6C0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833CAF6-34FB-973C-48D2-7E1982FE85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4F7B32-E900-014D-D77E-DBEF46DF0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F5EAAC-B7F9-D7B3-0501-CED55AF62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EBBD6BA-2C67-33B7-DCAC-BAF670A31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5832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25FD43-EA26-A443-86B8-4EBDFA2D1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7233A8-38FC-55E2-3244-7BAEC4437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9FC8E6C-8D45-DDDF-7BCF-3E74B0D6A8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1DC0429-BC49-C80B-3102-13974374C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4FA64A3-EDC6-A887-60C9-2B54E7226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672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E3FD59-4268-119D-B5D1-FBCEC8CE9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8537530-243D-CB9C-2F38-83914A024B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EA65DE2-FBB2-CB0D-B41C-56F92DD92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A11481-B401-4821-B999-243D8B1FA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BC39563-765F-47AB-7CE1-5658B2647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44608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77D30E-2DEA-0E36-23C3-0D1930F69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8377AF7-2F41-098C-0674-5A5A847AB0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77E5A9-841B-20F6-779F-3BC6147650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9A4EF71-353A-5DCD-1B2D-381B27171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A4BC366-3333-3B98-B3EA-823EB438CF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7F960DD-6CDE-5763-0686-BF39E51AD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40096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4F5412-CF74-774E-8E75-A7EAD151B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95A5322-D19E-43F9-5BA6-132C496EF2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6A5F5B0-27B7-110A-0ABA-B723649DF6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6C1A83E-8824-841D-DF62-8E42D8A740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89A4FB-FDAE-F38D-F30B-87868E81CE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1CFC4D35-4A26-9283-C0FC-86287321B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3CBF3F-1B8B-9482-F7EB-9B90F8780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9CB9E97-9C3D-10E3-3232-DE6004394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5920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6B7E63-9B64-85FB-93E4-2D65632AB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288CB67-6102-DDFC-58C2-4DA5CF905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E1948DB-A1E2-4CD9-6AA1-6DCF31D22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F529AAF-B749-29CB-3003-EF2959483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388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ECDBC3F-E837-8041-8752-A1D97E1E2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869204-7AB8-7A47-3435-46582BAA4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402E680-6AFD-2DC0-B429-3E63D93E4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003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167D75-879F-BE54-EC9E-0AD47E0E1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41C18D-6F95-42E1-AFEF-E563B8D64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3FA0597-24E0-AEF2-0563-D95C7DFBD7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699B06F-478D-A78C-509D-7506FF4E4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FC1DEC1-8D57-1177-6423-E72B1E207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BF4B306-BAC6-F08D-E698-7A7C1B7DE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1480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E926E1-7673-871D-6F71-675D4A453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90D125A-3DDF-CC41-E59C-501D54E2D5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5F45252-2BA2-19BB-B8DC-699298890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067B9A1-A7D9-3FDC-EB18-F893A069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96CE6A-4E99-D196-7933-600BDD1F0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EEF3A51-8EA9-03E9-9AA3-A3F05789AC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23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A1E1AC-D471-AE64-6C63-D45C559B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6952BA1-509B-5788-A290-AF947CCFF4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AE39020-B6FD-4E51-6C18-43BE70F14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779EA00-63BD-37EF-95EF-A9C655652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57324D5-D763-0194-FB5E-D0C741D94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9120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15A3AC28-B930-FE4E-FC2E-CA0E23832D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66176DA-1434-A434-82D0-98C26FA5C2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B70C90-E30B-C272-E0F3-72A5E089E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1FF969E-F0A6-C64C-319F-0FC60CD8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63708A0-D938-FB42-0A9D-55C60B50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79732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CE6D7ED-7453-445F-375E-A1C5002B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203568F-89C4-DCE7-5D29-83817485F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043709A-7DB4-52D3-0662-7DF5B8FCFA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6097CB-95AD-42A3-B3C6-49BA0286B305}" type="datetimeFigureOut">
              <a:rPr lang="de-DE" smtClean="0"/>
              <a:t>26.07.2026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3C9D88-507B-AA2F-AFC5-8BAB591FB55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316526-6BBB-FD1A-3897-D042FEF81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1C42F5-25AD-4B17-8FA3-32F87E41512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378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DCF5EF1-D323-721D-5C5B-C41C993A17F6}"/>
              </a:ext>
            </a:extLst>
          </p:cNvPr>
          <p:cNvSpPr/>
          <p:nvPr/>
        </p:nvSpPr>
        <p:spPr>
          <a:xfrm>
            <a:off x="1071716" y="676675"/>
            <a:ext cx="10048568" cy="22220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6E09347-DEA1-5053-9A6D-69F290694F55}"/>
              </a:ext>
            </a:extLst>
          </p:cNvPr>
          <p:cNvSpPr txBox="1"/>
          <p:nvPr/>
        </p:nvSpPr>
        <p:spPr>
          <a:xfrm>
            <a:off x="2163096" y="1002890"/>
            <a:ext cx="8652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9600" b="1" dirty="0">
                <a:solidFill>
                  <a:schemeClr val="bg1"/>
                </a:solidFill>
              </a:rPr>
              <a:t>Project DAWG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A30B5CC-C150-17B5-32DA-508B6C361F4D}"/>
              </a:ext>
            </a:extLst>
          </p:cNvPr>
          <p:cNvSpPr txBox="1"/>
          <p:nvPr/>
        </p:nvSpPr>
        <p:spPr>
          <a:xfrm>
            <a:off x="1209366" y="3774570"/>
            <a:ext cx="93504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Hundeartenerkennung + Erkennung meines Haustieres unter anderen Hundearten. 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766851E-1B25-F1AC-D9DF-9F7C60A1C6CF}"/>
              </a:ext>
            </a:extLst>
          </p:cNvPr>
          <p:cNvSpPr txBox="1"/>
          <p:nvPr/>
        </p:nvSpPr>
        <p:spPr>
          <a:xfrm>
            <a:off x="1209366" y="3271683"/>
            <a:ext cx="3087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dirty="0"/>
              <a:t>Zielsetzung: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FE2DF182-BEA5-C839-FEEF-6049631A2B4B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D4B6605E-D54F-DB80-4228-1EE3F547D8F8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</p:spTree>
    <p:extLst>
      <p:ext uri="{BB962C8B-B14F-4D97-AF65-F5344CB8AC3E}">
        <p14:creationId xmlns:p14="http://schemas.microsoft.com/office/powerpoint/2010/main" val="1657699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F45792B4-6B91-1C2D-41B6-8BABC018F566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565CCB5-21F8-2B1E-F77F-85305388AE72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74F02DB5-F33D-AD37-EC67-05F093E20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82" y="69706"/>
            <a:ext cx="9712032" cy="6262268"/>
          </a:xfrm>
          <a:prstGeom prst="rect">
            <a:avLst/>
          </a:prstGeom>
        </p:spPr>
      </p:pic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903E302-FC51-E93A-65E2-60B6E8C169D7}"/>
              </a:ext>
            </a:extLst>
          </p:cNvPr>
          <p:cNvSpPr/>
          <p:nvPr/>
        </p:nvSpPr>
        <p:spPr>
          <a:xfrm>
            <a:off x="4264790" y="211393"/>
            <a:ext cx="1936955" cy="62926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4C83508-9AA4-90B1-7C54-C0C91AF95019}"/>
              </a:ext>
            </a:extLst>
          </p:cNvPr>
          <p:cNvSpPr txBox="1"/>
          <p:nvPr/>
        </p:nvSpPr>
        <p:spPr>
          <a:xfrm>
            <a:off x="4604002" y="270387"/>
            <a:ext cx="17747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Testing</a:t>
            </a:r>
          </a:p>
        </p:txBody>
      </p:sp>
    </p:spTree>
    <p:extLst>
      <p:ext uri="{BB962C8B-B14F-4D97-AF65-F5344CB8AC3E}">
        <p14:creationId xmlns:p14="http://schemas.microsoft.com/office/powerpoint/2010/main" val="24579273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831FF-6E06-0538-BD9B-D311B1CE6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F0F8AB2-9E63-5D52-6E9A-1E1CD018E5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040" y="1188320"/>
            <a:ext cx="4762500" cy="357187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D7B69D5-7422-EA29-918D-CCABFD860D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6847" y="1188320"/>
            <a:ext cx="3790950" cy="50482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EA350B8D-D4BB-9AFF-552B-DFEF0A1FD48D}"/>
              </a:ext>
            </a:extLst>
          </p:cNvPr>
          <p:cNvSpPr txBox="1"/>
          <p:nvPr/>
        </p:nvSpPr>
        <p:spPr>
          <a:xfrm>
            <a:off x="8020971" y="6409246"/>
            <a:ext cx="3293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EntleBucher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10B3259-4B83-1874-FA06-8290FCFC4B83}"/>
              </a:ext>
            </a:extLst>
          </p:cNvPr>
          <p:cNvSpPr txBox="1"/>
          <p:nvPr/>
        </p:nvSpPr>
        <p:spPr>
          <a:xfrm>
            <a:off x="1762738" y="5041365"/>
            <a:ext cx="3293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Appenzeller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3C60246F-A52F-976D-64B5-EC2067068E25}"/>
              </a:ext>
            </a:extLst>
          </p:cNvPr>
          <p:cNvSpPr/>
          <p:nvPr/>
        </p:nvSpPr>
        <p:spPr>
          <a:xfrm>
            <a:off x="4301611" y="330813"/>
            <a:ext cx="1936955" cy="62926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F33070F6-C8B2-7A5A-384B-E297120A3A9E}"/>
              </a:ext>
            </a:extLst>
          </p:cNvPr>
          <p:cNvSpPr txBox="1"/>
          <p:nvPr/>
        </p:nvSpPr>
        <p:spPr>
          <a:xfrm>
            <a:off x="4640823" y="389807"/>
            <a:ext cx="17747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Testing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FC718E7D-D760-6945-33C5-07123BB63CF0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F5F6AA3F-B3F7-A8E2-F9B9-30E6E2566B79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  <p:sp>
        <p:nvSpPr>
          <p:cNvPr id="2" name="Ungleich 1">
            <a:extLst>
              <a:ext uri="{FF2B5EF4-FFF2-40B4-BE49-F238E27FC236}">
                <a16:creationId xmlns:a16="http://schemas.microsoft.com/office/drawing/2014/main" id="{7D7F50D0-AECA-8481-513E-F6C43733F3B4}"/>
              </a:ext>
            </a:extLst>
          </p:cNvPr>
          <p:cNvSpPr/>
          <p:nvPr/>
        </p:nvSpPr>
        <p:spPr>
          <a:xfrm>
            <a:off x="6096000" y="3154373"/>
            <a:ext cx="920537" cy="767114"/>
          </a:xfrm>
          <a:prstGeom prst="mathNot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843353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055C5-3F4C-5D4D-9A2B-A82354B87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9E67B456-BA30-B1DD-D4DE-3D0473C8BB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904" y="1761050"/>
            <a:ext cx="4762500" cy="357187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EA3CBCBC-B0DF-401F-4343-1994688513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51135" y="1761050"/>
            <a:ext cx="4762500" cy="357187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9A9045D-9EC2-CB46-623C-BC01A8F7EA9E}"/>
              </a:ext>
            </a:extLst>
          </p:cNvPr>
          <p:cNvSpPr txBox="1"/>
          <p:nvPr/>
        </p:nvSpPr>
        <p:spPr>
          <a:xfrm>
            <a:off x="7808655" y="5542811"/>
            <a:ext cx="3293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Pembroke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D8079A4-5CB8-3952-E89B-8E16E2EE0CA5}"/>
              </a:ext>
            </a:extLst>
          </p:cNvPr>
          <p:cNvSpPr txBox="1"/>
          <p:nvPr/>
        </p:nvSpPr>
        <p:spPr>
          <a:xfrm>
            <a:off x="1457937" y="5542811"/>
            <a:ext cx="3293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Basenji</a:t>
            </a:r>
            <a:endParaRPr lang="de-DE" dirty="0"/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65583149-71BB-675C-C768-0076C2CD8977}"/>
              </a:ext>
            </a:extLst>
          </p:cNvPr>
          <p:cNvSpPr/>
          <p:nvPr/>
        </p:nvSpPr>
        <p:spPr>
          <a:xfrm>
            <a:off x="4301611" y="330813"/>
            <a:ext cx="1936955" cy="629265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3893C1A-6C84-93F4-6BBF-98302923FD32}"/>
              </a:ext>
            </a:extLst>
          </p:cNvPr>
          <p:cNvSpPr txBox="1"/>
          <p:nvPr/>
        </p:nvSpPr>
        <p:spPr>
          <a:xfrm>
            <a:off x="4640823" y="389807"/>
            <a:ext cx="17747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 dirty="0">
                <a:solidFill>
                  <a:schemeClr val="bg1"/>
                </a:solidFill>
              </a:rPr>
              <a:t>Testing</a:t>
            </a:r>
          </a:p>
        </p:txBody>
      </p:sp>
      <p:sp>
        <p:nvSpPr>
          <p:cNvPr id="4" name="Rechteck: abgerundete Ecken 3">
            <a:extLst>
              <a:ext uri="{FF2B5EF4-FFF2-40B4-BE49-F238E27FC236}">
                <a16:creationId xmlns:a16="http://schemas.microsoft.com/office/drawing/2014/main" id="{B5513ADF-AF4C-1262-938D-CBD320179587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77068B1-A6AE-B490-B297-E85B80D86973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  <p:sp>
        <p:nvSpPr>
          <p:cNvPr id="6" name="Ungleich 5">
            <a:extLst>
              <a:ext uri="{FF2B5EF4-FFF2-40B4-BE49-F238E27FC236}">
                <a16:creationId xmlns:a16="http://schemas.microsoft.com/office/drawing/2014/main" id="{D3D57287-6564-759C-441D-A1562F126B0B}"/>
              </a:ext>
            </a:extLst>
          </p:cNvPr>
          <p:cNvSpPr/>
          <p:nvPr/>
        </p:nvSpPr>
        <p:spPr>
          <a:xfrm>
            <a:off x="5635731" y="3163430"/>
            <a:ext cx="920537" cy="767114"/>
          </a:xfrm>
          <a:prstGeom prst="mathNot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7350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E29ED-83BE-52E1-22C8-1CE347DF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1E388296-D728-2024-ADB0-EEC258160A19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7C67DD6-9C63-3569-403D-08981BAF1C1D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EBBC054-9103-9E4A-D162-498267138E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687" y="310595"/>
            <a:ext cx="10440941" cy="5873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8451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C0F14-AA66-4CD9-5411-E7DEAF170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F49622D1-15D0-8A20-26A3-B6BC8D44F758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4828F9E-EB1B-FFEC-E594-CD717055576D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B2AAA90-B8A7-031E-B8FC-91576E50F4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6478" y="266951"/>
            <a:ext cx="10465489" cy="588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307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D0356-1893-034E-2B6E-7BD8191DD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65D2E1F-8190-E38F-2517-8A0EEE634687}"/>
              </a:ext>
            </a:extLst>
          </p:cNvPr>
          <p:cNvSpPr/>
          <p:nvPr/>
        </p:nvSpPr>
        <p:spPr>
          <a:xfrm>
            <a:off x="349169" y="513982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F4BFD412-EF12-77AB-B2BE-9E8D4D426B87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AAC45B8-D0DD-F684-0EED-DA385BE2F362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5B5DABE2-35C3-FCD5-EAE8-C97F15AE7B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0"/>
            <a:ext cx="8229600" cy="685800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4E7863D4-A5D9-4EB8-A3B9-B5C5E91EE873}"/>
              </a:ext>
            </a:extLst>
          </p:cNvPr>
          <p:cNvSpPr txBox="1"/>
          <p:nvPr/>
        </p:nvSpPr>
        <p:spPr>
          <a:xfrm>
            <a:off x="501693" y="545626"/>
            <a:ext cx="1258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b="1" dirty="0">
                <a:solidFill>
                  <a:schemeClr val="bg1"/>
                </a:solidFill>
              </a:rPr>
              <a:t>ResNet18</a:t>
            </a:r>
            <a:endParaRPr lang="de-DE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955617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07ABD-55BF-257C-5E1A-0F224EC64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F80D5436-B5E1-643D-A68F-E5E3360161BE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853B651-66C8-052C-64C4-B74DF7BBCFF0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63BB860-7D07-7418-FD0C-9960C0B2E1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1200" y="0"/>
            <a:ext cx="8229600" cy="6858000"/>
          </a:xfrm>
          <a:prstGeom prst="rect">
            <a:avLst/>
          </a:prstGeom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C6D28B66-8796-9C4A-4A1F-C47CE679CCB4}"/>
              </a:ext>
            </a:extLst>
          </p:cNvPr>
          <p:cNvSpPr/>
          <p:nvPr/>
        </p:nvSpPr>
        <p:spPr>
          <a:xfrm>
            <a:off x="280466" y="513982"/>
            <a:ext cx="1817160" cy="43262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47BC653-DAA5-80E0-8733-586A5C495C5B}"/>
              </a:ext>
            </a:extLst>
          </p:cNvPr>
          <p:cNvSpPr txBox="1"/>
          <p:nvPr/>
        </p:nvSpPr>
        <p:spPr>
          <a:xfrm>
            <a:off x="280466" y="545626"/>
            <a:ext cx="18858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 b="1" dirty="0">
                <a:solidFill>
                  <a:schemeClr val="bg1"/>
                </a:solidFill>
              </a:rPr>
              <a:t>EfficientNet-B0</a:t>
            </a:r>
            <a:endParaRPr lang="de-DE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6485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24">
            <a:extLst>
              <a:ext uri="{FF2B5EF4-FFF2-40B4-BE49-F238E27FC236}">
                <a16:creationId xmlns:a16="http://schemas.microsoft.com/office/drawing/2014/main" id="{28E51E4E-100E-3C6B-4CBC-F3739419E4BF}"/>
              </a:ext>
            </a:extLst>
          </p:cNvPr>
          <p:cNvSpPr txBox="1"/>
          <p:nvPr/>
        </p:nvSpPr>
        <p:spPr>
          <a:xfrm>
            <a:off x="1127967" y="338144"/>
            <a:ext cx="10001176" cy="400110"/>
          </a:xfrm>
          <a:prstGeom prst="rect">
            <a:avLst/>
          </a:prstGeom>
          <a:solidFill>
            <a:srgbClr val="464646"/>
          </a:solidFill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Modellvergleich: ResNet18 vs. EfficientNet-B0</a:t>
            </a:r>
          </a:p>
        </p:txBody>
      </p:sp>
      <p:graphicFrame>
        <p:nvGraphicFramePr>
          <p:cNvPr id="7" name="Tabelle 6">
            <a:extLst>
              <a:ext uri="{FF2B5EF4-FFF2-40B4-BE49-F238E27FC236}">
                <a16:creationId xmlns:a16="http://schemas.microsoft.com/office/drawing/2014/main" id="{7EF763D2-FC24-4E10-709C-329AEF2412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488947"/>
              </p:ext>
            </p:extLst>
          </p:nvPr>
        </p:nvGraphicFramePr>
        <p:xfrm>
          <a:off x="1116918" y="886783"/>
          <a:ext cx="10001176" cy="4023462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000588">
                  <a:extLst>
                    <a:ext uri="{9D8B030D-6E8A-4147-A177-3AD203B41FA5}">
                      <a16:colId xmlns:a16="http://schemas.microsoft.com/office/drawing/2014/main" val="4177866289"/>
                    </a:ext>
                  </a:extLst>
                </a:gridCol>
                <a:gridCol w="5000588">
                  <a:extLst>
                    <a:ext uri="{9D8B030D-6E8A-4147-A177-3AD203B41FA5}">
                      <a16:colId xmlns:a16="http://schemas.microsoft.com/office/drawing/2014/main" val="328259036"/>
                    </a:ext>
                  </a:extLst>
                </a:gridCol>
              </a:tblGrid>
              <a:tr h="469475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3200" dirty="0"/>
                        <a:t>ResNet18 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3200" dirty="0"/>
                        <a:t>EfficientNet-B0 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9440909"/>
                  </a:ext>
                </a:extLst>
              </a:tr>
              <a:tr h="134122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</a:t>
                      </a:r>
                      <a:r>
                        <a:rPr lang="de-DE" sz="2000" dirty="0" err="1"/>
                        <a:t>Accuracy</a:t>
                      </a:r>
                      <a:r>
                        <a:rPr lang="de-DE" sz="2000" dirty="0"/>
                        <a:t>: 0.9167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Macro-F1: 0.8011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Weighted-F1: 0.9373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Garo: F1 = 1.0 (6/6 korrekt)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</a:t>
                      </a:r>
                      <a:r>
                        <a:rPr lang="de-DE" sz="2000" dirty="0" err="1"/>
                        <a:t>Accuracy</a:t>
                      </a:r>
                      <a:r>
                        <a:rPr lang="de-DE" sz="2000" dirty="0"/>
                        <a:t>: 0.8784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Macro-F1: 0.6947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Weighted-F1: 0.9064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Garo: F1 = 1.0 (6/6 korrekt)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9096288"/>
                  </a:ext>
                </a:extLst>
              </a:tr>
              <a:tr h="2086346">
                <a:tc gridSpan="2"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Beobachtung: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Beide Modelle erkennen Garo perfekt.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• ResNet18 ist auf diesem </a:t>
                      </a:r>
                      <a:r>
                        <a:rPr lang="de-DE" sz="2000" dirty="0" err="1"/>
                        <a:t>Testset</a:t>
                      </a:r>
                      <a:r>
                        <a:rPr lang="de-DE" sz="2000" dirty="0"/>
                        <a:t> insgesamt etwas besser,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  EfficientNet-B0 zeigt aber ähnliche starke Werte und</a:t>
                      </a:r>
                    </a:p>
                    <a:p>
                      <a:pPr>
                        <a:defRPr sz="1200">
                          <a:solidFill>
                            <a:srgbClr val="191919"/>
                          </a:solidFill>
                        </a:defRPr>
                      </a:pPr>
                      <a:r>
                        <a:rPr lang="de-DE" sz="2000" dirty="0"/>
                        <a:t>  könnte für größere Datensätze interessant sein.</a:t>
                      </a:r>
                    </a:p>
                    <a:p>
                      <a:endParaRPr lang="de-DE" sz="32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1708876"/>
                  </a:ext>
                </a:extLst>
              </a:tr>
            </a:tbl>
          </a:graphicData>
        </a:graphic>
      </p:graphicFrame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441A0749-A693-C23D-F60C-AC605B0614D2}"/>
              </a:ext>
            </a:extLst>
          </p:cNvPr>
          <p:cNvSpPr/>
          <p:nvPr/>
        </p:nvSpPr>
        <p:spPr>
          <a:xfrm>
            <a:off x="10432025" y="6331974"/>
            <a:ext cx="1563329" cy="432620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9EF0CF2F-ECF2-A14F-C298-38BC34875592}"/>
              </a:ext>
            </a:extLst>
          </p:cNvPr>
          <p:cNvSpPr txBox="1"/>
          <p:nvPr/>
        </p:nvSpPr>
        <p:spPr>
          <a:xfrm>
            <a:off x="10432026" y="6363618"/>
            <a:ext cx="17599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/>
                </a:solidFill>
              </a:rPr>
              <a:t>Tobias Daiger</a:t>
            </a:r>
          </a:p>
        </p:txBody>
      </p:sp>
    </p:spTree>
    <p:extLst>
      <p:ext uri="{BB962C8B-B14F-4D97-AF65-F5344CB8AC3E}">
        <p14:creationId xmlns:p14="http://schemas.microsoft.com/office/powerpoint/2010/main" val="29888385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129</Words>
  <Application>Microsoft Office PowerPoint</Application>
  <PresentationFormat>Breitbild</PresentationFormat>
  <Paragraphs>37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D.</dc:creator>
  <cp:lastModifiedBy>Tobias D.</cp:lastModifiedBy>
  <cp:revision>7</cp:revision>
  <dcterms:created xsi:type="dcterms:W3CDTF">2026-07-26T18:43:04Z</dcterms:created>
  <dcterms:modified xsi:type="dcterms:W3CDTF">2026-07-26T18:48:13Z</dcterms:modified>
</cp:coreProperties>
</file>