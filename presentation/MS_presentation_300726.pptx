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0" r:id="rId3"/>
    <p:sldId id="271" r:id="rId4"/>
    <p:sldId id="272" r:id="rId5"/>
    <p:sldId id="260" r:id="rId6"/>
    <p:sldId id="261" r:id="rId7"/>
    <p:sldId id="256" r:id="rId8"/>
    <p:sldId id="262" r:id="rId9"/>
    <p:sldId id="266" r:id="rId10"/>
    <p:sldId id="268" r:id="rId11"/>
    <p:sldId id="269" r:id="rId12"/>
    <p:sldId id="258" r:id="rId13"/>
    <p:sldId id="259" r:id="rId14"/>
    <p:sldId id="267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3BE9F-D760-47FC-B634-50E109F412A8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ED224-99CB-478D-B20B-99CDA3E10D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78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ED224-99CB-478D-B20B-99CDA3E10D3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09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8DA0-BEAB-8C2A-3D97-7166AD13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422B4B1-11F3-3CB7-185E-59D0C742D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BBC6CED-5C19-82D7-ACC7-671CC39AA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BFF3AC-CA2A-5FDF-C1D0-2A953AFD5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ED224-99CB-478D-B20B-99CDA3E10D3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63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1C5F1-4B78-F559-9ADE-A5F176B6C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833CAF6-34FB-973C-48D2-7E1982FE8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4F7B32-E900-014D-D77E-DBEF46DF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5EAAC-B7F9-D7B3-0501-CED55AF6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BBD6BA-2C67-33B7-DCAC-BAF670A3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83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5FD43-EA26-A443-86B8-4EBDFA2D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7233A8-38FC-55E2-3244-7BAEC443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FC8E6C-8D45-DDDF-7BCF-3E74B0D6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DC0429-BC49-C80B-3102-13974374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FA64A3-EDC6-A887-60C9-2B54E722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67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3FD59-4268-119D-B5D1-FBCEC8CE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537530-243D-CB9C-2F38-83914A024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65DE2-FBB2-CB0D-B41C-56F92DD9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A11481-B401-4821-B999-243D8B1F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39563-765F-47AB-7CE1-5658B264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46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7D30E-2DEA-0E36-23C3-0D1930F6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377AF7-2F41-098C-0674-5A5A847AB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77E5A9-841B-20F6-779F-3BC61476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A4EF71-353A-5DCD-1B2D-381B2717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4BC366-3333-3B98-B3EA-823EB438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960DD-6CDE-5763-0686-BF39E51A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00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F5412-CF74-774E-8E75-A7EAD151B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5A5322-D19E-43F9-5BA6-132C496EF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A5F5B0-27B7-110A-0ABA-B723649DF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6C1A83E-8824-841D-DF62-8E42D8A74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89A4FB-FDAE-F38D-F30B-87868E81C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CFC4D35-4A26-9283-C0FC-86287321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3CBF3F-1B8B-9482-F7EB-9B90F878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CB9E97-9C3D-10E3-3232-DE600439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92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B7E63-9B64-85FB-93E4-2D65632A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88CB67-6102-DDFC-58C2-4DA5CF90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1948DB-A1E2-4CD9-6AA1-6DCF31D2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529AAF-B749-29CB-3003-EF295948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38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CDBC3F-E837-8041-8752-A1D97E1E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869204-7AB8-7A47-3435-46582BAA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02E680-6AFD-2DC0-B429-3E63D93E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0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167D75-879F-BE54-EC9E-0AD47E0E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41C18D-6F95-42E1-AFEF-E563B8D6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FA0597-24E0-AEF2-0563-D95C7DFBD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99B06F-478D-A78C-509D-7506FF4E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C1DEC1-8D57-1177-6423-E72B1E20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F4B306-BAC6-F08D-E698-7A7C1B7D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14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926E1-7673-871D-6F71-675D4A45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90D125A-3DDF-CC41-E59C-501D54E2D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F45252-2BA2-19BB-B8DC-699298890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7B9A1-A7D9-3FDC-EB18-F893A069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96CE6A-4E99-D196-7933-600BDD1F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EF3A51-8EA9-03E9-9AA3-A3F05789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2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1E1AC-D471-AE64-6C63-D45C559B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952BA1-509B-5788-A290-AF947CCFF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E39020-B6FD-4E51-6C18-43BE70F1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79EA00-63BD-37EF-95EF-A9C65565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7324D5-D763-0194-FB5E-D0C741D9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91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A3AC28-B930-FE4E-FC2E-CA0E23832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6176DA-1434-A434-82D0-98C26FA5C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B70C90-E30B-C272-E0F3-72A5E089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FF969E-F0A6-C64C-319F-0FC60CD8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3708A0-D938-FB42-0A9D-55C60B50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73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E6D7ED-7453-445F-375E-A1C5002B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03568F-89C4-DCE7-5D29-83817485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43709A-7DB4-52D3-0662-7DF5B8FCF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097CB-95AD-42A3-B3C6-49BA0286B305}" type="datetimeFigureOut">
              <a:rPr lang="de-DE" smtClean="0"/>
              <a:t>29.07.2026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C9D88-507B-AA2F-AFC5-8BAB591FB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16526-6BBB-FD1A-3897-D042FEF81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C42F5-25AD-4B17-8FA3-32F87E4151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7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DCF5EF1-D323-721D-5C5B-C41C993A17F6}"/>
              </a:ext>
            </a:extLst>
          </p:cNvPr>
          <p:cNvSpPr/>
          <p:nvPr/>
        </p:nvSpPr>
        <p:spPr>
          <a:xfrm>
            <a:off x="1071716" y="676675"/>
            <a:ext cx="10048568" cy="22220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E09347-DEA1-5053-9A6D-69F290694F55}"/>
              </a:ext>
            </a:extLst>
          </p:cNvPr>
          <p:cNvSpPr txBox="1"/>
          <p:nvPr/>
        </p:nvSpPr>
        <p:spPr>
          <a:xfrm>
            <a:off x="2163096" y="1002890"/>
            <a:ext cx="8652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0" b="1" dirty="0">
                <a:solidFill>
                  <a:schemeClr val="bg1"/>
                </a:solidFill>
              </a:rPr>
              <a:t>Project DAWG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A30B5CC-C150-17B5-32DA-508B6C361F4D}"/>
              </a:ext>
            </a:extLst>
          </p:cNvPr>
          <p:cNvSpPr txBox="1"/>
          <p:nvPr/>
        </p:nvSpPr>
        <p:spPr>
          <a:xfrm>
            <a:off x="1209366" y="3774570"/>
            <a:ext cx="935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Hundeartenerkennung + Erkennung meines Haustieres unter anderen Hundearten.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766851E-1B25-F1AC-D9DF-9F7C60A1C6CF}"/>
              </a:ext>
            </a:extLst>
          </p:cNvPr>
          <p:cNvSpPr txBox="1"/>
          <p:nvPr/>
        </p:nvSpPr>
        <p:spPr>
          <a:xfrm>
            <a:off x="1209366" y="3271683"/>
            <a:ext cx="3087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Zielsetzung: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E2DF182-BEA5-C839-FEEF-6049631A2B4B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4B6605E-D54F-DB80-4228-1EE3F547D8F8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165769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BC50F3CB-68D5-D92C-15F6-CB686BDD3A03}"/>
              </a:ext>
            </a:extLst>
          </p:cNvPr>
          <p:cNvSpPr/>
          <p:nvPr/>
        </p:nvSpPr>
        <p:spPr>
          <a:xfrm>
            <a:off x="8485083" y="3697689"/>
            <a:ext cx="2129504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8D5F628-4BB6-C580-D61F-A7F6CAEB9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97" y="368283"/>
            <a:ext cx="2124179" cy="2661879"/>
          </a:xfrm>
          <a:prstGeom prst="round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CEF13AD-8241-499A-93C0-DCC886371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96" y="4479048"/>
            <a:ext cx="2129504" cy="1815402"/>
          </a:xfrm>
          <a:prstGeom prst="round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AF6EC40-4E88-28AA-DD93-561ED5064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434" y="171321"/>
            <a:ext cx="2454252" cy="1975114"/>
          </a:xfrm>
          <a:prstGeom prst="round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0EC5F71-00D1-292C-7056-5738D4D6A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1" y="3648730"/>
            <a:ext cx="1490653" cy="2188065"/>
          </a:xfrm>
          <a:prstGeom prst="round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EAEBC6-C683-97C5-2053-51C25326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923" y="4194227"/>
            <a:ext cx="1480005" cy="2385044"/>
          </a:xfrm>
          <a:prstGeom prst="round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9E33950-BB5B-EBB7-DECA-054B60CF40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441" y="102094"/>
            <a:ext cx="2395691" cy="3194255"/>
          </a:xfrm>
          <a:prstGeom prst="round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79BCB5A-F870-9464-F99A-35D5295267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941" y="1686036"/>
            <a:ext cx="2944042" cy="3925388"/>
          </a:xfrm>
          <a:prstGeom prst="roundRect">
            <a:avLst/>
          </a:prstGeom>
        </p:spPr>
      </p:pic>
      <p:pic>
        <p:nvPicPr>
          <p:cNvPr id="19" name="Grafik 18" descr="Fragezeichen mit einfarbiger Füllung">
            <a:extLst>
              <a:ext uri="{FF2B5EF4-FFF2-40B4-BE49-F238E27FC236}">
                <a16:creationId xmlns:a16="http://schemas.microsoft.com/office/drawing/2014/main" id="{EFFB2E0C-1052-1B97-14E3-F9E964C91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01099" y="2105580"/>
            <a:ext cx="2129503" cy="2129503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12B2EDF0-B3F7-E853-AB22-EA3E49A1169F}"/>
              </a:ext>
            </a:extLst>
          </p:cNvPr>
          <p:cNvSpPr txBox="1"/>
          <p:nvPr/>
        </p:nvSpPr>
        <p:spPr>
          <a:xfrm>
            <a:off x="8613057" y="3697689"/>
            <a:ext cx="200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…</a:t>
            </a:r>
            <a:r>
              <a:rPr lang="de-DE" dirty="0" err="1">
                <a:solidFill>
                  <a:schemeClr val="bg1"/>
                </a:solidFill>
              </a:rPr>
              <a:t>What</a:t>
            </a:r>
            <a:r>
              <a:rPr lang="de-DE" dirty="0">
                <a:solidFill>
                  <a:schemeClr val="bg1"/>
                </a:solidFill>
              </a:rPr>
              <a:t> Dog am I?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ED92210C-4927-1392-FE4F-FAA9DF9E23A0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A99983B-8FD4-9C8C-871B-AA1417EACE72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25791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8C72318-086A-5784-FF72-39AF4F04B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2" y="4176252"/>
            <a:ext cx="748622" cy="638200"/>
          </a:xfrm>
          <a:prstGeom prst="round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99BBA4D-3C49-12FD-9E8E-3F2721BDC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465" y="2888278"/>
            <a:ext cx="1150728" cy="926074"/>
          </a:xfrm>
          <a:prstGeom prst="round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C61651E-62D0-028A-11BF-DDE591874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763" y="3454321"/>
            <a:ext cx="594218" cy="957589"/>
          </a:xfrm>
          <a:prstGeom prst="round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3FE8792-9520-2197-7067-4AD2F7368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33" y="2979642"/>
            <a:ext cx="718192" cy="957589"/>
          </a:xfrm>
          <a:prstGeom prst="round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A29CEC7-AB38-3ABD-061C-0A8DD88D95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91" y="2171462"/>
            <a:ext cx="884890" cy="1179853"/>
          </a:xfrm>
          <a:prstGeom prst="roundRect">
            <a:avLst/>
          </a:prstGeom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F45CE69A-36C1-7046-102F-CD8B3DD369C1}"/>
              </a:ext>
            </a:extLst>
          </p:cNvPr>
          <p:cNvSpPr/>
          <p:nvPr/>
        </p:nvSpPr>
        <p:spPr>
          <a:xfrm>
            <a:off x="4095717" y="3272976"/>
            <a:ext cx="2153920" cy="6601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Netzwerk mit einfarbiger Füllung">
            <a:extLst>
              <a:ext uri="{FF2B5EF4-FFF2-40B4-BE49-F238E27FC236}">
                <a16:creationId xmlns:a16="http://schemas.microsoft.com/office/drawing/2014/main" id="{B2C34069-2C55-25FE-F3FA-7A5A50AF0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5246" y="2608067"/>
            <a:ext cx="2053064" cy="2053064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ADF578E-FDC6-660A-2F6A-DB7581531C15}"/>
              </a:ext>
            </a:extLst>
          </p:cNvPr>
          <p:cNvSpPr txBox="1"/>
          <p:nvPr/>
        </p:nvSpPr>
        <p:spPr>
          <a:xfrm>
            <a:off x="6626942" y="4495352"/>
            <a:ext cx="2053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dirty="0">
                <a:solidFill>
                  <a:srgbClr val="0070C0"/>
                </a:solidFill>
              </a:rPr>
              <a:t>ResNet18</a:t>
            </a:r>
            <a:endParaRPr lang="de-DE" dirty="0">
              <a:solidFill>
                <a:srgbClr val="0070C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56EEC7F-D496-7097-5808-2BD75D133318}"/>
              </a:ext>
            </a:extLst>
          </p:cNvPr>
          <p:cNvSpPr txBox="1"/>
          <p:nvPr/>
        </p:nvSpPr>
        <p:spPr>
          <a:xfrm>
            <a:off x="9006349" y="3058927"/>
            <a:ext cx="30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dirty="0">
                <a:solidFill>
                  <a:srgbClr val="FF0000"/>
                </a:solidFill>
              </a:rPr>
              <a:t>EfficientNet-B0</a:t>
            </a:r>
            <a:endParaRPr lang="de-DE" dirty="0">
              <a:solidFill>
                <a:srgbClr val="FF0000"/>
              </a:solidFill>
            </a:endParaRPr>
          </a:p>
        </p:txBody>
      </p:sp>
      <p:pic>
        <p:nvPicPr>
          <p:cNvPr id="21" name="Grafik 20" descr="Netzwerk mit einfarbiger Füllung">
            <a:extLst>
              <a:ext uri="{FF2B5EF4-FFF2-40B4-BE49-F238E27FC236}">
                <a16:creationId xmlns:a16="http://schemas.microsoft.com/office/drawing/2014/main" id="{F44CDF1E-3FA3-20CF-E87C-8EBDE1E9E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075" y="1144930"/>
            <a:ext cx="2053064" cy="2053064"/>
          </a:xfrm>
          <a:prstGeom prst="rect">
            <a:avLst/>
          </a:prstGeom>
        </p:spPr>
      </p:pic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28BA899-51D8-13FE-4D4F-14804084D1A2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E6C63C9-F865-D051-05E5-1EB5AA771FDF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28BCB76-EE50-7F0F-DEE6-DF64EB7A36D4}"/>
              </a:ext>
            </a:extLst>
          </p:cNvPr>
          <p:cNvSpPr txBox="1"/>
          <p:nvPr/>
        </p:nvSpPr>
        <p:spPr>
          <a:xfrm>
            <a:off x="4103800" y="2608067"/>
            <a:ext cx="2053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TRAINING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2065F0B-2424-020E-F884-8C3BB7E4D7ED}"/>
              </a:ext>
            </a:extLst>
          </p:cNvPr>
          <p:cNvSpPr txBox="1"/>
          <p:nvPr/>
        </p:nvSpPr>
        <p:spPr>
          <a:xfrm>
            <a:off x="7769371" y="5111771"/>
            <a:ext cx="3658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4 + 4 </a:t>
            </a:r>
            <a:r>
              <a:rPr lang="de-DE" sz="2800" b="1" dirty="0" err="1"/>
              <a:t>Epoches</a:t>
            </a:r>
            <a:endParaRPr lang="de-DE" sz="2800" b="1" dirty="0"/>
          </a:p>
          <a:p>
            <a:r>
              <a:rPr lang="de-DE" sz="2800" b="1" dirty="0"/>
              <a:t>Head + Finetuning</a:t>
            </a:r>
          </a:p>
        </p:txBody>
      </p:sp>
    </p:spTree>
    <p:extLst>
      <p:ext uri="{BB962C8B-B14F-4D97-AF65-F5344CB8AC3E}">
        <p14:creationId xmlns:p14="http://schemas.microsoft.com/office/powerpoint/2010/main" val="85932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67A5-7532-BC0F-D5B8-E8CDA59E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E876F760-A1E1-9B4A-03D9-5E6C9D87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36" y="1728677"/>
            <a:ext cx="1711498" cy="2281997"/>
          </a:xfrm>
          <a:prstGeom prst="roundRect">
            <a:avLst/>
          </a:prstGeom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B85F0AC8-ECDE-1723-072D-10CCB9EB3923}"/>
              </a:ext>
            </a:extLst>
          </p:cNvPr>
          <p:cNvSpPr/>
          <p:nvPr/>
        </p:nvSpPr>
        <p:spPr>
          <a:xfrm>
            <a:off x="2546554" y="2539607"/>
            <a:ext cx="1475549" cy="66013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6" name="Grafik 15" descr="Netzwerk mit einfarbiger Füllung">
            <a:extLst>
              <a:ext uri="{FF2B5EF4-FFF2-40B4-BE49-F238E27FC236}">
                <a16:creationId xmlns:a16="http://schemas.microsoft.com/office/drawing/2014/main" id="{2495ECAF-B56C-010C-8AE0-54473533F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5093" y="2670808"/>
            <a:ext cx="1179853" cy="1179853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FC3E194-30AD-93F1-1D1D-C46A30595683}"/>
              </a:ext>
            </a:extLst>
          </p:cNvPr>
          <p:cNvSpPr txBox="1"/>
          <p:nvPr/>
        </p:nvSpPr>
        <p:spPr>
          <a:xfrm>
            <a:off x="4181509" y="3850661"/>
            <a:ext cx="1347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rgbClr val="0070C0"/>
                </a:solidFill>
              </a:rPr>
              <a:t>ResNet18</a:t>
            </a:r>
            <a:endParaRPr lang="de-DE" sz="1200" dirty="0">
              <a:solidFill>
                <a:srgbClr val="0070C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2513CBD-5F43-22F6-F373-AD7463E2EF89}"/>
              </a:ext>
            </a:extLst>
          </p:cNvPr>
          <p:cNvSpPr txBox="1"/>
          <p:nvPr/>
        </p:nvSpPr>
        <p:spPr>
          <a:xfrm>
            <a:off x="5747157" y="3129533"/>
            <a:ext cx="1999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EfficientNet-B0</a:t>
            </a:r>
            <a:endParaRPr lang="de-DE" sz="1200" dirty="0">
              <a:solidFill>
                <a:srgbClr val="FF0000"/>
              </a:solidFill>
            </a:endParaRPr>
          </a:p>
        </p:txBody>
      </p:sp>
      <p:pic>
        <p:nvPicPr>
          <p:cNvPr id="21" name="Grafik 20" descr="Netzwerk mit einfarbiger Füllung">
            <a:extLst>
              <a:ext uri="{FF2B5EF4-FFF2-40B4-BE49-F238E27FC236}">
                <a16:creationId xmlns:a16="http://schemas.microsoft.com/office/drawing/2014/main" id="{75E8B5F7-663A-88C0-3C1F-BA5B035AB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3177" y="1949680"/>
            <a:ext cx="1179853" cy="1179853"/>
          </a:xfrm>
          <a:prstGeom prst="rect">
            <a:avLst/>
          </a:prstGeom>
        </p:spPr>
      </p:pic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F352DE2E-8CFD-5B61-1A85-A4381E6C593A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DD5E7A5-1D0F-B53D-4AC2-510AE4F28932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A24F56B-C6CC-A393-8A49-9EBFB7E152C0}"/>
              </a:ext>
            </a:extLst>
          </p:cNvPr>
          <p:cNvSpPr txBox="1"/>
          <p:nvPr/>
        </p:nvSpPr>
        <p:spPr>
          <a:xfrm>
            <a:off x="5056645" y="1426460"/>
            <a:ext cx="2053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TESTING</a:t>
            </a:r>
          </a:p>
        </p:txBody>
      </p:sp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1F4C50B5-7E49-2203-F60F-3BF8E353D249}"/>
              </a:ext>
            </a:extLst>
          </p:cNvPr>
          <p:cNvSpPr/>
          <p:nvPr/>
        </p:nvSpPr>
        <p:spPr>
          <a:xfrm>
            <a:off x="8082975" y="2669449"/>
            <a:ext cx="1562471" cy="66013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CE5842C-A74E-D540-2BDE-C8FBE1615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184" y="1906555"/>
            <a:ext cx="1711498" cy="2281997"/>
          </a:xfrm>
          <a:prstGeom prst="roundRect">
            <a:avLst/>
          </a:prstGeom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6A293E11-0201-035D-7A6F-D1569F064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0611" y="949230"/>
            <a:ext cx="1607573" cy="16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8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29ED-83BE-52E1-22C8-1CE347DF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E388296-D728-2024-ADB0-EEC258160A19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7C67DD6-9C63-3569-403D-08981BAF1C1D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EBBC054-9103-9E4A-D162-498267138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87" y="310595"/>
            <a:ext cx="10440941" cy="587302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2925611-D5FF-FA39-9480-8B206A0EA52A}"/>
              </a:ext>
            </a:extLst>
          </p:cNvPr>
          <p:cNvSpPr txBox="1"/>
          <p:nvPr/>
        </p:nvSpPr>
        <p:spPr>
          <a:xfrm>
            <a:off x="296855" y="5706570"/>
            <a:ext cx="3658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4 + 4 </a:t>
            </a:r>
            <a:r>
              <a:rPr lang="de-DE" sz="2800" b="1" dirty="0" err="1"/>
              <a:t>Epoches</a:t>
            </a:r>
            <a:endParaRPr lang="de-DE" sz="2800" b="1" dirty="0"/>
          </a:p>
          <a:p>
            <a:r>
              <a:rPr lang="de-DE" sz="2800" b="1" dirty="0"/>
              <a:t>Head + Finetuning</a:t>
            </a:r>
          </a:p>
        </p:txBody>
      </p:sp>
    </p:spTree>
    <p:extLst>
      <p:ext uri="{BB962C8B-B14F-4D97-AF65-F5344CB8AC3E}">
        <p14:creationId xmlns:p14="http://schemas.microsoft.com/office/powerpoint/2010/main" val="96984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0F14-AA66-4CD9-5411-E7DEAF17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49622D1-15D0-8A20-26A3-B6BC8D44F758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828F9E-EB1B-FFEC-E594-CD717055576D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B2AAA90-B8A7-031E-B8FC-91576E50F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478" y="266951"/>
            <a:ext cx="10465489" cy="588683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DB87902-B08F-303C-C360-3909DAC61B0F}"/>
              </a:ext>
            </a:extLst>
          </p:cNvPr>
          <p:cNvSpPr txBox="1"/>
          <p:nvPr/>
        </p:nvSpPr>
        <p:spPr>
          <a:xfrm>
            <a:off x="296855" y="5706570"/>
            <a:ext cx="3658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4 + 4 </a:t>
            </a:r>
            <a:r>
              <a:rPr lang="de-DE" sz="2800" b="1" dirty="0" err="1"/>
              <a:t>Epoches</a:t>
            </a:r>
            <a:endParaRPr lang="de-DE" sz="2800" b="1" dirty="0"/>
          </a:p>
          <a:p>
            <a:r>
              <a:rPr lang="de-DE" sz="2800" b="1" dirty="0"/>
              <a:t>Head + Finetuning</a:t>
            </a:r>
          </a:p>
        </p:txBody>
      </p:sp>
    </p:spTree>
    <p:extLst>
      <p:ext uri="{BB962C8B-B14F-4D97-AF65-F5344CB8AC3E}">
        <p14:creationId xmlns:p14="http://schemas.microsoft.com/office/powerpoint/2010/main" val="131530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45792B4-6B91-1C2D-41B6-8BABC018F566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65CCB5-21F8-2B1E-F77F-85305388AE72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4F02DB5-F33D-AD37-EC67-05F093E2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82" y="69706"/>
            <a:ext cx="9712032" cy="6262268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903E302-FC51-E93A-65E2-60B6E8C169D7}"/>
              </a:ext>
            </a:extLst>
          </p:cNvPr>
          <p:cNvSpPr/>
          <p:nvPr/>
        </p:nvSpPr>
        <p:spPr>
          <a:xfrm>
            <a:off x="4264790" y="21139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4C83508-9AA4-90B1-7C54-C0C91AF95019}"/>
              </a:ext>
            </a:extLst>
          </p:cNvPr>
          <p:cNvSpPr txBox="1"/>
          <p:nvPr/>
        </p:nvSpPr>
        <p:spPr>
          <a:xfrm>
            <a:off x="4604002" y="27038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45792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31FF-6E06-0538-BD9B-D311B1CE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46802AD-387D-5C61-948B-D6CF9CC70F37}"/>
              </a:ext>
            </a:extLst>
          </p:cNvPr>
          <p:cNvSpPr/>
          <p:nvPr/>
        </p:nvSpPr>
        <p:spPr>
          <a:xfrm>
            <a:off x="8454820" y="5700533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4105E77-F55D-5E04-7498-400092521C10}"/>
              </a:ext>
            </a:extLst>
          </p:cNvPr>
          <p:cNvSpPr/>
          <p:nvPr/>
        </p:nvSpPr>
        <p:spPr>
          <a:xfrm>
            <a:off x="1664416" y="5041365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F0F8AB2-9E63-5D52-6E9A-1E1CD018E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40" y="1188320"/>
            <a:ext cx="4762500" cy="3571875"/>
          </a:xfrm>
          <a:prstGeom prst="round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D7B69D5-7422-EA29-918D-CCABFD860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010" y="620639"/>
            <a:ext cx="3790950" cy="5048250"/>
          </a:xfrm>
          <a:prstGeom prst="round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350B8D-D4BB-9AFF-552B-DFEF0A1FD48D}"/>
              </a:ext>
            </a:extLst>
          </p:cNvPr>
          <p:cNvSpPr txBox="1"/>
          <p:nvPr/>
        </p:nvSpPr>
        <p:spPr>
          <a:xfrm>
            <a:off x="8532249" y="5732177"/>
            <a:ext cx="15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EntleBucher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10B3259-4B83-1874-FA06-8290FCFC4B83}"/>
              </a:ext>
            </a:extLst>
          </p:cNvPr>
          <p:cNvSpPr txBox="1"/>
          <p:nvPr/>
        </p:nvSpPr>
        <p:spPr>
          <a:xfrm>
            <a:off x="1762739" y="5041365"/>
            <a:ext cx="13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Appenzeller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C60246F-A52F-976D-64B5-EC2067068E25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33070F6-C8B2-7A5A-384B-E297120A3A9E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C718E7D-D760-6945-33C5-07123BB63CF0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5F6AA3F-B3F7-A8E2-F9B9-30E6E2566B79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2" name="Ungleich 1">
            <a:extLst>
              <a:ext uri="{FF2B5EF4-FFF2-40B4-BE49-F238E27FC236}">
                <a16:creationId xmlns:a16="http://schemas.microsoft.com/office/drawing/2014/main" id="{7D7F50D0-AECA-8481-513E-F6C43733F3B4}"/>
              </a:ext>
            </a:extLst>
          </p:cNvPr>
          <p:cNvSpPr/>
          <p:nvPr/>
        </p:nvSpPr>
        <p:spPr>
          <a:xfrm>
            <a:off x="6096000" y="3154373"/>
            <a:ext cx="920537" cy="767114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33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55C5-3F4C-5D4D-9A2B-A82354B8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664B8B0-9172-E0B7-90B1-33E78F571162}"/>
              </a:ext>
            </a:extLst>
          </p:cNvPr>
          <p:cNvSpPr/>
          <p:nvPr/>
        </p:nvSpPr>
        <p:spPr>
          <a:xfrm>
            <a:off x="7612010" y="5511167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91134D9-DA39-4FF4-B133-B7CDB3391355}"/>
              </a:ext>
            </a:extLst>
          </p:cNvPr>
          <p:cNvSpPr/>
          <p:nvPr/>
        </p:nvSpPr>
        <p:spPr>
          <a:xfrm>
            <a:off x="1182636" y="5511167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E67B456-BA30-B1DD-D4DE-3D0473C8B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04" y="1761050"/>
            <a:ext cx="4762500" cy="3571875"/>
          </a:xfrm>
          <a:prstGeom prst="round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3CBCBC-B0DF-401F-4343-199468851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135" y="1761050"/>
            <a:ext cx="4762500" cy="3571875"/>
          </a:xfrm>
          <a:prstGeom prst="round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9A9045D-9EC2-CB46-623C-BC01A8F7EA9E}"/>
              </a:ext>
            </a:extLst>
          </p:cNvPr>
          <p:cNvSpPr txBox="1"/>
          <p:nvPr/>
        </p:nvSpPr>
        <p:spPr>
          <a:xfrm>
            <a:off x="7808655" y="5542811"/>
            <a:ext cx="126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Pembroke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D8079A4-5CB8-3952-E89B-8E16E2EE0CA5}"/>
              </a:ext>
            </a:extLst>
          </p:cNvPr>
          <p:cNvSpPr txBox="1"/>
          <p:nvPr/>
        </p:nvSpPr>
        <p:spPr>
          <a:xfrm>
            <a:off x="1457937" y="5542811"/>
            <a:ext cx="10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Basenji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5583149-71BB-675C-C768-0076C2CD8977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3893C1A-6C84-93F4-6BBF-98302923FD32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5513ADF-AF4C-1262-938D-CBD320179587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77068B1-A6AE-B490-B297-E85B80D86973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6" name="Ungleich 5">
            <a:extLst>
              <a:ext uri="{FF2B5EF4-FFF2-40B4-BE49-F238E27FC236}">
                <a16:creationId xmlns:a16="http://schemas.microsoft.com/office/drawing/2014/main" id="{D3D57287-6564-759C-441D-A1562F126B0B}"/>
              </a:ext>
            </a:extLst>
          </p:cNvPr>
          <p:cNvSpPr/>
          <p:nvPr/>
        </p:nvSpPr>
        <p:spPr>
          <a:xfrm>
            <a:off x="5635731" y="3163430"/>
            <a:ext cx="920537" cy="767114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35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8124-D9A0-24AD-76FC-DDE4E75C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39DAC38-E88D-1D30-89DB-6BC2780766BB}"/>
              </a:ext>
            </a:extLst>
          </p:cNvPr>
          <p:cNvSpPr/>
          <p:nvPr/>
        </p:nvSpPr>
        <p:spPr>
          <a:xfrm>
            <a:off x="314632" y="366208"/>
            <a:ext cx="3333136" cy="52321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2C469DC-64D0-C7A7-A467-526250A7024D}"/>
              </a:ext>
            </a:extLst>
          </p:cNvPr>
          <p:cNvSpPr/>
          <p:nvPr/>
        </p:nvSpPr>
        <p:spPr>
          <a:xfrm>
            <a:off x="7647035" y="5270464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238FB204-6084-A622-50D0-F6278FFE191F}"/>
              </a:ext>
            </a:extLst>
          </p:cNvPr>
          <p:cNvSpPr/>
          <p:nvPr/>
        </p:nvSpPr>
        <p:spPr>
          <a:xfrm>
            <a:off x="1795615" y="5241602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3BA531-CA49-8AB8-11D2-EE9A1EDC05D8}"/>
              </a:ext>
            </a:extLst>
          </p:cNvPr>
          <p:cNvSpPr txBox="1"/>
          <p:nvPr/>
        </p:nvSpPr>
        <p:spPr>
          <a:xfrm>
            <a:off x="7987170" y="5304890"/>
            <a:ext cx="88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Vizsla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5FF8781-D6C2-16C9-A191-C2DAC5CD5893}"/>
              </a:ext>
            </a:extLst>
          </p:cNvPr>
          <p:cNvSpPr txBox="1"/>
          <p:nvPr/>
        </p:nvSpPr>
        <p:spPr>
          <a:xfrm>
            <a:off x="2234378" y="5277340"/>
            <a:ext cx="685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Merz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EDB19E0-8B97-86EA-0953-12401C204065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1C3D12-6945-509B-8554-2B6E6D1B59A5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EC59020-EBFC-8E4A-7C8A-DB608A591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92" y="1113005"/>
            <a:ext cx="2884521" cy="4026310"/>
          </a:xfrm>
          <a:prstGeom prst="round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B629F80-F016-999F-0244-D019472D0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46" y="1065026"/>
            <a:ext cx="4026310" cy="4026310"/>
          </a:xfrm>
          <a:prstGeom prst="round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86218F9-A275-D071-63A3-5DE827057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992" y="6007032"/>
            <a:ext cx="8087032" cy="268904"/>
          </a:xfrm>
          <a:prstGeom prst="rect">
            <a:avLst/>
          </a:prstGeom>
        </p:spPr>
      </p:pic>
      <p:sp>
        <p:nvSpPr>
          <p:cNvPr id="26" name="Ungleich 25">
            <a:extLst>
              <a:ext uri="{FF2B5EF4-FFF2-40B4-BE49-F238E27FC236}">
                <a16:creationId xmlns:a16="http://schemas.microsoft.com/office/drawing/2014/main" id="{EEC3CF23-0C2A-235E-A08B-9C60D0EA4E9C}"/>
              </a:ext>
            </a:extLst>
          </p:cNvPr>
          <p:cNvSpPr/>
          <p:nvPr/>
        </p:nvSpPr>
        <p:spPr>
          <a:xfrm>
            <a:off x="4788311" y="2524333"/>
            <a:ext cx="1200142" cy="1034944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44B7211-C95B-5438-CCD1-129013D3EC75}"/>
              </a:ext>
            </a:extLst>
          </p:cNvPr>
          <p:cNvSpPr txBox="1"/>
          <p:nvPr/>
        </p:nvSpPr>
        <p:spPr>
          <a:xfrm>
            <a:off x="491612" y="359029"/>
            <a:ext cx="333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…</a:t>
            </a:r>
            <a:r>
              <a:rPr lang="de-DE" sz="2800" dirty="0" err="1">
                <a:solidFill>
                  <a:schemeClr val="bg1"/>
                </a:solidFill>
              </a:rPr>
              <a:t>What</a:t>
            </a:r>
            <a:r>
              <a:rPr lang="de-DE" sz="2800" dirty="0">
                <a:solidFill>
                  <a:schemeClr val="bg1"/>
                </a:solidFill>
              </a:rPr>
              <a:t> Dog am I?</a:t>
            </a:r>
          </a:p>
        </p:txBody>
      </p:sp>
    </p:spTree>
    <p:extLst>
      <p:ext uri="{BB962C8B-B14F-4D97-AF65-F5344CB8AC3E}">
        <p14:creationId xmlns:p14="http://schemas.microsoft.com/office/powerpoint/2010/main" val="164850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325A-A8B4-519D-D1E6-524FF29C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8B410BB0-496D-48F1-84CC-BEED41B8ADD3}"/>
              </a:ext>
            </a:extLst>
          </p:cNvPr>
          <p:cNvSpPr/>
          <p:nvPr/>
        </p:nvSpPr>
        <p:spPr>
          <a:xfrm>
            <a:off x="7647035" y="5270464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4E753CD-6A2D-9330-4563-7CD1806DBD40}"/>
              </a:ext>
            </a:extLst>
          </p:cNvPr>
          <p:cNvSpPr/>
          <p:nvPr/>
        </p:nvSpPr>
        <p:spPr>
          <a:xfrm>
            <a:off x="1795615" y="5241602"/>
            <a:ext cx="1563329" cy="4326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2F1454-93B3-CCBF-24C1-BB7E42E83175}"/>
              </a:ext>
            </a:extLst>
          </p:cNvPr>
          <p:cNvSpPr txBox="1"/>
          <p:nvPr/>
        </p:nvSpPr>
        <p:spPr>
          <a:xfrm>
            <a:off x="7904361" y="5297155"/>
            <a:ext cx="104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Auch Ich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55CE9A-3757-9D12-5647-BD43AE0BECB6}"/>
              </a:ext>
            </a:extLst>
          </p:cNvPr>
          <p:cNvSpPr txBox="1"/>
          <p:nvPr/>
        </p:nvSpPr>
        <p:spPr>
          <a:xfrm>
            <a:off x="2234378" y="5277340"/>
            <a:ext cx="685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Ich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E8478EA-E178-0CF1-2369-2168A152A4A6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043CD37-8690-8C63-3387-B66D094B6EB7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26" name="Ungleich 25">
            <a:extLst>
              <a:ext uri="{FF2B5EF4-FFF2-40B4-BE49-F238E27FC236}">
                <a16:creationId xmlns:a16="http://schemas.microsoft.com/office/drawing/2014/main" id="{05855A35-B618-0F1A-BC41-E9C34CA73DCF}"/>
              </a:ext>
            </a:extLst>
          </p:cNvPr>
          <p:cNvSpPr/>
          <p:nvPr/>
        </p:nvSpPr>
        <p:spPr>
          <a:xfrm>
            <a:off x="4788311" y="2524333"/>
            <a:ext cx="1200142" cy="1034944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73447B-0007-0173-E480-E3135F2AF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47" y="1183778"/>
            <a:ext cx="2696953" cy="3593690"/>
          </a:xfrm>
          <a:prstGeom prst="round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D2ED93-53EF-139F-F7C5-E39938FFF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761" y="5999222"/>
            <a:ext cx="9043685" cy="27826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FD0B2AA-A185-6D3F-9C56-0A817EC50E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722" y="1183778"/>
            <a:ext cx="2547954" cy="3825757"/>
          </a:xfrm>
          <a:prstGeom prst="round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590801A-21AA-6046-0FE2-14F9F41E811A}"/>
              </a:ext>
            </a:extLst>
          </p:cNvPr>
          <p:cNvSpPr/>
          <p:nvPr/>
        </p:nvSpPr>
        <p:spPr>
          <a:xfrm>
            <a:off x="314632" y="366208"/>
            <a:ext cx="3333136" cy="52321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0B9E28-C507-C6C6-E347-7159178B4C5C}"/>
              </a:ext>
            </a:extLst>
          </p:cNvPr>
          <p:cNvSpPr txBox="1"/>
          <p:nvPr/>
        </p:nvSpPr>
        <p:spPr>
          <a:xfrm>
            <a:off x="491612" y="359029"/>
            <a:ext cx="333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…</a:t>
            </a:r>
            <a:r>
              <a:rPr lang="de-DE" sz="2800" dirty="0" err="1">
                <a:solidFill>
                  <a:schemeClr val="bg1"/>
                </a:solidFill>
              </a:rPr>
              <a:t>What</a:t>
            </a:r>
            <a:r>
              <a:rPr lang="de-DE" sz="2800" dirty="0">
                <a:solidFill>
                  <a:schemeClr val="bg1"/>
                </a:solidFill>
              </a:rPr>
              <a:t> Dog am I?</a:t>
            </a:r>
          </a:p>
        </p:txBody>
      </p:sp>
    </p:spTree>
    <p:extLst>
      <p:ext uri="{BB962C8B-B14F-4D97-AF65-F5344CB8AC3E}">
        <p14:creationId xmlns:p14="http://schemas.microsoft.com/office/powerpoint/2010/main" val="4242782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0356-1893-034E-2B6E-7BD8191D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5D2E1F-8190-E38F-2517-8A0EEE634687}"/>
              </a:ext>
            </a:extLst>
          </p:cNvPr>
          <p:cNvSpPr/>
          <p:nvPr/>
        </p:nvSpPr>
        <p:spPr>
          <a:xfrm>
            <a:off x="349169" y="513982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4BFD412-EF12-77AB-B2BE-9E8D4D426B87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AC45B8-D0DD-F684-0EED-DA385BE2F362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B5DABE2-35C3-FCD5-EAE8-C97F15AE7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E7863D4-A5D9-4EB8-A3B9-B5C5E91EE873}"/>
              </a:ext>
            </a:extLst>
          </p:cNvPr>
          <p:cNvSpPr txBox="1"/>
          <p:nvPr/>
        </p:nvSpPr>
        <p:spPr>
          <a:xfrm>
            <a:off x="501693" y="545626"/>
            <a:ext cx="125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bg1"/>
                </a:solidFill>
              </a:rPr>
              <a:t>ResNet18</a:t>
            </a: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6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7ABD-55BF-257C-5E1A-0F224EC6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80D5436-B5E1-643D-A68F-E5E3360161BE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853B651-66C8-052C-64C4-B74DF7BBCFF0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63BB860-7D07-7418-FD0C-9960C0B2E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6D28B66-8796-9C4A-4A1F-C47CE679CCB4}"/>
              </a:ext>
            </a:extLst>
          </p:cNvPr>
          <p:cNvSpPr/>
          <p:nvPr/>
        </p:nvSpPr>
        <p:spPr>
          <a:xfrm>
            <a:off x="280466" y="513982"/>
            <a:ext cx="1817160" cy="43262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7BC653-DAA5-80E0-8733-586A5C495C5B}"/>
              </a:ext>
            </a:extLst>
          </p:cNvPr>
          <p:cNvSpPr txBox="1"/>
          <p:nvPr/>
        </p:nvSpPr>
        <p:spPr>
          <a:xfrm>
            <a:off x="280466" y="545626"/>
            <a:ext cx="1885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bg1"/>
                </a:solidFill>
              </a:rPr>
              <a:t>EfficientNet-B0</a:t>
            </a: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8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4">
            <a:extLst>
              <a:ext uri="{FF2B5EF4-FFF2-40B4-BE49-F238E27FC236}">
                <a16:creationId xmlns:a16="http://schemas.microsoft.com/office/drawing/2014/main" id="{28E51E4E-100E-3C6B-4CBC-F3739419E4BF}"/>
              </a:ext>
            </a:extLst>
          </p:cNvPr>
          <p:cNvSpPr txBox="1"/>
          <p:nvPr/>
        </p:nvSpPr>
        <p:spPr>
          <a:xfrm>
            <a:off x="1127967" y="338144"/>
            <a:ext cx="10001176" cy="400110"/>
          </a:xfrm>
          <a:prstGeom prst="rect">
            <a:avLst/>
          </a:prstGeom>
          <a:solidFill>
            <a:srgbClr val="464646"/>
          </a:solidFill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Modellvergleich: ResNet18 vs. EfficientNet-B0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EF763D2-FC24-4E10-709C-329AEF241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8947"/>
              </p:ext>
            </p:extLst>
          </p:nvPr>
        </p:nvGraphicFramePr>
        <p:xfrm>
          <a:off x="1116918" y="886783"/>
          <a:ext cx="10001176" cy="40234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00588">
                  <a:extLst>
                    <a:ext uri="{9D8B030D-6E8A-4147-A177-3AD203B41FA5}">
                      <a16:colId xmlns:a16="http://schemas.microsoft.com/office/drawing/2014/main" val="4177866289"/>
                    </a:ext>
                  </a:extLst>
                </a:gridCol>
                <a:gridCol w="5000588">
                  <a:extLst>
                    <a:ext uri="{9D8B030D-6E8A-4147-A177-3AD203B41FA5}">
                      <a16:colId xmlns:a16="http://schemas.microsoft.com/office/drawing/2014/main" val="328259036"/>
                    </a:ext>
                  </a:extLst>
                </a:gridCol>
              </a:tblGrid>
              <a:tr h="46947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3200" dirty="0"/>
                        <a:t>ResNet18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3200" dirty="0"/>
                        <a:t>EfficientNet-B0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440909"/>
                  </a:ext>
                </a:extLst>
              </a:tr>
              <a:tr h="134122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</a:t>
                      </a:r>
                      <a:r>
                        <a:rPr lang="de-DE" sz="2000" dirty="0" err="1"/>
                        <a:t>Accuracy</a:t>
                      </a:r>
                      <a:r>
                        <a:rPr lang="de-DE" sz="2000" dirty="0"/>
                        <a:t>: 0.9167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Macro-F1: 0.8011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Weighted-F1: 0.9373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Garo: F1 = 1.0 (6/6 korrekt)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</a:t>
                      </a:r>
                      <a:r>
                        <a:rPr lang="de-DE" sz="2000" dirty="0" err="1"/>
                        <a:t>Accuracy</a:t>
                      </a:r>
                      <a:r>
                        <a:rPr lang="de-DE" sz="2000" dirty="0"/>
                        <a:t>: 0.8784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Macro-F1: 0.6947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Weighted-F1: 0.9064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Garo: F1 = 1.0 (6/6 korrekt)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096288"/>
                  </a:ext>
                </a:extLst>
              </a:tr>
              <a:tr h="2086346">
                <a:tc gridSpan="2"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Beobachtung: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Beide Modelle erkennen Garo perfekt.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• ResNet18 ist auf diesem </a:t>
                      </a:r>
                      <a:r>
                        <a:rPr lang="de-DE" sz="2000" dirty="0" err="1"/>
                        <a:t>Testset</a:t>
                      </a:r>
                      <a:r>
                        <a:rPr lang="de-DE" sz="2000" dirty="0"/>
                        <a:t> insgesamt etwas besser,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  EfficientNet-B0 zeigt aber ähnliche starke Werte und</a:t>
                      </a:r>
                    </a:p>
                    <a:p>
                      <a:pPr>
                        <a:defRPr sz="1200">
                          <a:solidFill>
                            <a:srgbClr val="191919"/>
                          </a:solidFill>
                        </a:defRPr>
                      </a:pPr>
                      <a:r>
                        <a:rPr lang="de-DE" sz="2000" dirty="0"/>
                        <a:t>  könnte für größere Datensätze interessant sein.</a:t>
                      </a:r>
                    </a:p>
                    <a:p>
                      <a:endParaRPr lang="de-DE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708876"/>
                  </a:ext>
                </a:extLst>
              </a:tr>
            </a:tbl>
          </a:graphicData>
        </a:graphic>
      </p:graphicFrame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41A0749-A693-C23D-F60C-AC605B0614D2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EF0CF2F-ECF2-A14F-C298-38BC34875592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2988838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Breitbild</PresentationFormat>
  <Paragraphs>63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D.</dc:creator>
  <cp:lastModifiedBy>Tobias D.</cp:lastModifiedBy>
  <cp:revision>24</cp:revision>
  <dcterms:created xsi:type="dcterms:W3CDTF">2026-07-26T18:43:04Z</dcterms:created>
  <dcterms:modified xsi:type="dcterms:W3CDTF">2026-07-29T19:15:19Z</dcterms:modified>
</cp:coreProperties>
</file>